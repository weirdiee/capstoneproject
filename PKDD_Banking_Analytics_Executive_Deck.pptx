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21196F5-3DED-DA78-53D7-96DDB7C2A7E5}">
          <p14:sldIdLst>
            <p14:sldId id="256"/>
          </p14:sldIdLst>
        </p14:section>
        <p14:section name="Portfolio overview" id="{969EAE19-E14D-C632-B0AB-743B4B7A317C}">
          <p14:sldIdLst>
            <p14:sldId id="257"/>
          </p14:sldIdLst>
        </p14:section>
        <p14:section name="Research findings" id="{D4E49DC9-6AE9-65C1-0807-CE63877DACEF}">
          <p14:sldIdLst>
            <p14:sldId id="258"/>
            <p14:sldId id="259"/>
            <p14:sldId id="260"/>
            <p14:sldId id="261"/>
            <p14:sldId id="262"/>
          </p14:sldIdLst>
        </p14:section>
        <p14:section name="Methodology" id="{B158A99B-787B-E30C-9C35-C17EB5668A07}">
          <p14:sldIdLst>
            <p14:sldId id="263"/>
          </p14:sldIdLst>
        </p14:section>
        <p14:section name="Close" id="{22DFB2D4-FC54-6343-D11C-34A53857CF18}">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6" d="100"/>
          <a:sy n="106" d="100"/>
        </p:scale>
        <p:origin x="75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0687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[00:00 - 01:00]
"Good morning, members of the Executive Board. Today I am presenting our capstone analytics findings on banking transactions, customer segment behavior, and regulatory credit risk exposure across our 4,500 active accounts and $103.3M loan portfolio. Over the next 14 minutes, we will cover five research dimensions: credit default risk, machine-learning customer personas, cash-flow liquidity coverage, regional branch economics, and payment card risk mitigation. Our goal is to translate these insights into three immediate executive actions to optimize capital allocation and strengthen risk-adjusted margins."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[01:00 - 02:30]
"Looking at our macro portfolio view, our core banking operations manage 4,500 client accounts with a total deployed loan balance of $103.26 million across 682 loan contracts. Of these, 76 loans have entered default status (Status B and D), a baseline volume default rate of 11.14%. By dollars, defaulted exposure is $15.58 million (Status B $4.36M plus Status D $11.22M), or 15.09% of principal. Monthly standing payment obligations total $21.23 million, a substantial recurring liquidity flow. This baseline dashboard is our single source of truth as we drill into each research domain."
Power BI: insert link on the button, then present live in Full Screen (F11). Use 'Reset View' to restore baseline filters.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[02:30 - 05:00]
"Drilling into Research Point 1, we scored every loan with a probability of default using only information available before origination. The class mix is 203 loans paid in full, 403 running in good standing, 31 finished in default and 45 running in debt: 76 defaults out of 682 loans. The dashboard shows average probability of default at 10.93%, with roughly $16M of the $103M exposure already defaulted. Duration matters: 12-month loans default at 8.4%, while 24 to 60 month loans run between 11.5% and 12.3%. The takeaway is that default risk is not uniform; larger, longer-duration commitments need tighter Debt Service Ratio underwriting prior to origination."
Live demo: use the Risk Category and Probability of Default slicers to isolate Critical Risk loans.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[05:00 - 07:30]
"Turning to Research Point 2, we applied K-Means clustering across Recency, Frequency and Monetary metrics to segment our 4,500 accounts into four personas: VIP / High-Value Champions, Frequent Everyday Transactors, Low-Frequency Savers and At-Risk / Dormant Accounts. In the demographic matrix, VIP Champions are our highest-value segment: in the under-25 cohort they average about $2.46M against roughly $0.64M for Low-Frequency Savers, and the 25-40 cohort holds 680 VIP accounts. At-Risk accounts are few (53 and 55 in the two youngest cohorts) but show long inactivity. Marketing can deploy automated retention offers before closure and upsell premium credit lines to VIP Champions."
Live demo: tick the 41-60 and 60+ age groups to show the remaining cohorts.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[07:30 - 09:30]
"In Research Point 3 we evaluate recurring cash outflows across 3,758 accounts carrying active standing orders. Total monthly commitment is about $21.2M. Household payments (SIPO) account for the largest share at roughly $14M on this dashboard, followed by external loan repayments (UVER) and other transfers at about $3M each. In the scatter on the right, loan installment size is plotted against standing orders: accounts in the upper-right carry a heavy combined fixed-obligation burden. This view lets our credit monitoring team detect distress weeks before a missed payment occurs."
Reconcile before presenting: Research_Point_3.docx reports SIPO at $11.12M (52.4%); the dashboard KPI shows $14M.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[09:30 - 11:50]
"In Research Point 4 we map portfolio performance across our eight administrative regions. South and North Moravia are our largest hubs, combining for $37.76M or 36.6% of total loan exposure. Default rates differ sharply by region: by dollar exposure North Moravia is the highest at roughly 21% and North Bohemia the lowest at about 2%. Prague has the highest average salary, about $12.5K, yet its dollar default rate is still around 16%, so salary alone does not explain default. By loan count, North Moravia (15.38%), West Bohemia (15.79%) and South Bohemia (15.00%) run nearly double Prague's 8.33%. We recommend localized LTV caps in the high-default regions."
Live demo: click the North Moravia tile (793 accounts, $18.1M), then District slicer 'Ostrava-mesto', then Reset View.
Note: dashboard rates are dollar-weighted; the figures quoted from the research doc are by loan count.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[11:50 - 13:40]
"Our final technical area uncovers one of our most striking strategic findings: the impact of payment card adoption on credit risk. We hold 892 issued cards across Classic, Junior and Gold tiers, a 20% account penetration rate, with issuance accelerating from one card in 1993 to 449 in 1998. Accounts holding a card show a default rate of 4.35% by dollar exposure (2.94% by volume), whereas non-cardholders show 18.90% by dollars (13.87% by volume): roughly 4.3 times lower by dollars. Card ownership is a powerful proxy for active engagement and financial discipline. Junior cardholders carry the largest average loan at $221.97K."
Live demo: click the 'gold' tile (88 cards, $161.9K average principal), then 'Running - In Debt/Default'.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[13:40 - 14:30]
"For our academic examiners and risk committees, this slide synthesizes our visualization methodology into general descriptive analytics versus predictive diagnostic analytics. Descriptive visuals, such as raw loan status distributions, baseline RFM demographic matrices and regional account volume maps, answer what happened historically. Our predictive visuals, such as default-by-term curves, K-Means persona scatter plots, standing order stress quadrants, regional default-versus-salary views and card-tier risk proxies, answer what will happen. This dual framework shows our Power BI solution goes beyond static reporting to deliver forward-looking credit risk forecasting and automated early-warning capabilities."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[14:30 - 15:00]
"To conclude, we translate these findings into three strategic priorities for the coming fiscal year. First, cross-sell payment cards as risk mitigants by bundling cards with new loan originations. Second, implement macro-adjusted regional credit limits, with a 70% LTV cap in North Moravia, West Bohemia and South Bohemia. Third, configure an automated liquidity early-warning system that alerts when standing orders exceed 50% of monthly deposit inflows. Thank you for your time. I am now open to questions, and we can launch live Power BI filters as needed."
Q&amp;A: open the master .pbix in Full Screen (F11); use 'Reset View' between test cases.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txBody>
          <a:bodyPr/>
          <a:lstStyle/>
          <a:p>
            <a:endParaRPr lang="en-SG"/>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pic>
        <p:nvPicPr>
          <p:cNvPr id="2" name="Image 0" descr="logo_emblem_t.png"/>
          <p:cNvPicPr>
            <a:picLocks noChangeAspect="1"/>
          </p:cNvPicPr>
          <p:nvPr/>
        </p:nvPicPr>
        <p:blipFill>
          <a:blip r:embed="rId2"/>
          <a:stretch>
            <a:fillRect/>
          </a:stretch>
        </p:blipFill>
        <p:spPr>
          <a:xfrm>
            <a:off x="457200" y="6336792"/>
            <a:ext cx="274320" cy="356616"/>
          </a:xfrm>
          <a:prstGeom prst="rect">
            <a:avLst/>
          </a:prstGeom>
        </p:spPr>
      </p:pic>
      <p:sp>
        <p:nvSpPr>
          <p:cNvPr id="3" name="Text 0"/>
          <p:cNvSpPr txBox="1"/>
          <p:nvPr/>
        </p:nvSpPr>
        <p:spPr>
          <a:xfrm>
            <a:off x="868680" y="6355080"/>
            <a:ext cx="6400800" cy="320040"/>
          </a:xfrm>
          <a:prstGeom prst="rect">
            <a:avLst/>
          </a:prstGeom>
          <a:noFill/>
          <a:ln/>
        </p:spPr>
        <p:txBody>
          <a:bodyPr wrap="square" lIns="0" tIns="0" rIns="0" bIns="0" rtlCol="0" anchor="ctr"/>
          <a:lstStyle/>
          <a:p>
            <a:pPr marL="0" indent="0">
              <a:buNone/>
            </a:pPr>
            <a:r>
              <a:rPr lang="en-US" sz="1100" dirty="0">
                <a:solidFill>
                  <a:schemeClr val="accent6"/>
                </a:solidFill>
              </a:rPr>
              <a:t>PKDD Financial  |  Banking Analytics Executive Briefing</a:t>
            </a:r>
            <a:endParaRPr lang="en-US" sz="1100" dirty="0"/>
          </a:p>
        </p:txBody>
      </p:sp>
      <p:sp>
        <p:nvSpPr>
          <p:cNvPr id="4" name="Text 1"/>
          <p:cNvSpPr>
            <a:spLocks noGrp="1"/>
          </p:cNvSpPr>
          <p:nvPr>
            <p:ph type="body" idx="102" hasCustomPrompt="1"/>
          </p:nvPr>
        </p:nvSpPr>
        <p:spPr>
          <a:xfrm>
            <a:off x="457200" y="320040"/>
            <a:ext cx="11274552" cy="292608"/>
          </a:xfrm>
          <a:prstGeom prst="rect">
            <a:avLst/>
          </a:prstGeom>
          <a:noFill/>
          <a:ln/>
        </p:spPr>
        <p:txBody>
          <a:bodyPr wrap="square" rtlCol="0"/>
          <a:lstStyle>
            <a:lvl1pPr marL="0" indent="0">
              <a:buNone/>
              <a:defRPr lang="en-US" sz="1200" b="1" kern="0" spc="200" dirty="0">
                <a:solidFill>
                  <a:schemeClr val="accent1"/>
                </a:solidFill>
              </a:defRPr>
            </a:lvl1pPr>
          </a:lstStyle>
          <a:p>
            <a:pPr marL="0" indent="0">
              <a:buNone/>
            </a:pPr>
            <a:endParaRPr lang="en-US" sz="1200" dirty="0"/>
          </a:p>
        </p:txBody>
      </p:sp>
      <p:sp>
        <p:nvSpPr>
          <p:cNvPr id="5" name="Text 1"/>
          <p:cNvSpPr>
            <a:spLocks noGrp="1"/>
          </p:cNvSpPr>
          <p:nvPr>
            <p:ph type="title" idx="103" hasCustomPrompt="1"/>
          </p:nvPr>
        </p:nvSpPr>
        <p:spPr>
          <a:xfrm>
            <a:off x="457200" y="640080"/>
            <a:ext cx="11274552" cy="68580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0972800" y="6355080"/>
            <a:ext cx="758952" cy="32004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
        <p:nvSpPr>
          <p:cNvPr id="3" name="Text 1"/>
          <p:cNvSpPr>
            <a:spLocks noGrp="1"/>
          </p:cNvSpPr>
          <p:nvPr>
            <p:ph type="body" idx="101" hasCustomPrompt="1"/>
          </p:nvPr>
        </p:nvSpPr>
        <p:spPr>
          <a:xfrm>
            <a:off x="457200" y="320040"/>
            <a:ext cx="11274552" cy="292608"/>
          </a:xfrm>
          <a:prstGeom prst="rect">
            <a:avLst/>
          </a:prstGeom>
          <a:noFill/>
          <a:ln/>
        </p:spPr>
        <p:txBody>
          <a:bodyPr wrap="square" rtlCol="0"/>
          <a:lstStyle>
            <a:lvl1pPr marL="0" indent="0">
              <a:buNone/>
              <a:defRPr lang="en-US" sz="1200" b="1" kern="0" spc="200" dirty="0">
                <a:solidFill>
                  <a:schemeClr val="accent3"/>
                </a:solidFill>
              </a:defRPr>
            </a:lvl1pPr>
          </a:lstStyle>
          <a:p>
            <a:pPr marL="0" indent="0">
              <a:buNone/>
            </a:pPr>
            <a:endParaRPr lang="en-US" sz="1200" dirty="0"/>
          </a:p>
        </p:txBody>
      </p:sp>
      <p:sp>
        <p:nvSpPr>
          <p:cNvPr id="4" name="Text 1"/>
          <p:cNvSpPr>
            <a:spLocks noGrp="1"/>
          </p:cNvSpPr>
          <p:nvPr>
            <p:ph type="title" idx="102" hasCustomPrompt="1"/>
          </p:nvPr>
        </p:nvSpPr>
        <p:spPr>
          <a:xfrm>
            <a:off x="457200" y="640080"/>
            <a:ext cx="11274552" cy="68580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55080"/>
            <a:ext cx="758952" cy="32004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hyperlink" Target="../Analysis/Master_Executive_View.pbix" TargetMode="External"/><Relationship Id="rId4" Type="http://schemas.openxmlformats.org/officeDocument/2006/relationships/hyperlink" Target="https://app.powerbi.com/"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hyperlink" Target="../Analysis/Research_Point_1.pbix" TargetMode="External"/><Relationship Id="rId4" Type="http://schemas.openxmlformats.org/officeDocument/2006/relationships/hyperlink" Target="https://app.powerbi.com/"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hyperlink" Target="../Analysis/Research_Point_2.pbix" TargetMode="External"/><Relationship Id="rId4" Type="http://schemas.openxmlformats.org/officeDocument/2006/relationships/hyperlink" Target="https://app.powerbi.com/"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hyperlink" Target="../Analysis/Research_Point_3.pbix" TargetMode="External"/><Relationship Id="rId4" Type="http://schemas.openxmlformats.org/officeDocument/2006/relationships/hyperlink" Target="https://app.powerbi.com/"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hyperlink" Target="../Analysis/Research_Point_4.pbix" TargetMode="External"/><Relationship Id="rId4" Type="http://schemas.openxmlformats.org/officeDocument/2006/relationships/hyperlink" Target="https://app.powerbi.com/"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hyperlink" Target="../Analysis/Research_Point_5.pbix" TargetMode="External"/><Relationship Id="rId4" Type="http://schemas.openxmlformats.org/officeDocument/2006/relationships/hyperlink" Target="https://app.powerbi.com/"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app.powerbi.com/" TargetMode="External"/><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731520"/>
            <a:ext cx="6766560" cy="274320"/>
          </a:xfrm>
          <a:prstGeom prst="rect">
            <a:avLst/>
          </a:prstGeom>
          <a:noFill/>
          <a:ln/>
        </p:spPr>
        <p:txBody>
          <a:bodyPr wrap="square" lIns="0" tIns="0" rIns="0" bIns="0" rtlCol="0" anchor="ctr"/>
          <a:lstStyle/>
          <a:p>
            <a:pPr marL="0" indent="0">
              <a:buNone/>
            </a:pPr>
            <a:r>
              <a:rPr lang="en-US" sz="1200" b="1" kern="0" spc="200" dirty="0">
                <a:solidFill>
                  <a:schemeClr val="accent3"/>
                </a:solidFill>
              </a:rPr>
              <a:t>CAPSTONE ANALYTICS  |  EXECUTIVE BOARD BRIEFING</a:t>
            </a:r>
            <a:endParaRPr lang="en-US" sz="1200" dirty="0"/>
          </a:p>
        </p:txBody>
      </p:sp>
      <p:sp>
        <p:nvSpPr>
          <p:cNvPr id="3" name="Deck title"/>
          <p:cNvSpPr txBox="1"/>
          <p:nvPr/>
        </p:nvSpPr>
        <p:spPr>
          <a:xfrm>
            <a:off x="548640" y="1097280"/>
            <a:ext cx="6766560" cy="1737360"/>
          </a:xfrm>
          <a:prstGeom prst="rect">
            <a:avLst/>
          </a:prstGeom>
          <a:noFill/>
          <a:ln/>
        </p:spPr>
        <p:txBody>
          <a:bodyPr wrap="square" lIns="0" tIns="0" rIns="0" bIns="0" rtlCol="0" anchor="t"/>
          <a:lstStyle/>
          <a:p>
            <a:pPr marL="0" indent="0">
              <a:buNone/>
            </a:pPr>
            <a:r>
              <a:rPr lang="en-US" sz="4000" b="1" dirty="0">
                <a:solidFill>
                  <a:schemeClr val="bg1"/>
                </a:solidFill>
                <a:latin typeface="Cambria" pitchFamily="34" charset="0"/>
                <a:ea typeface="Cambria" pitchFamily="34" charset="-122"/>
                <a:cs typeface="Cambria" pitchFamily="34" charset="-120"/>
              </a:rPr>
              <a:t>Banking Transactions &amp; Regulatory Insights</a:t>
            </a:r>
            <a:endParaRPr lang="en-US" sz="4000" dirty="0"/>
          </a:p>
        </p:txBody>
      </p:sp>
      <p:sp>
        <p:nvSpPr>
          <p:cNvPr id="4" name="Subtitle"/>
          <p:cNvSpPr txBox="1"/>
          <p:nvPr/>
        </p:nvSpPr>
        <p:spPr>
          <a:xfrm>
            <a:off x="548640" y="2880360"/>
            <a:ext cx="6583680" cy="731520"/>
          </a:xfrm>
          <a:prstGeom prst="rect">
            <a:avLst/>
          </a:prstGeom>
          <a:noFill/>
          <a:ln/>
        </p:spPr>
        <p:txBody>
          <a:bodyPr wrap="square" lIns="0" tIns="0" rIns="0" bIns="0" rtlCol="0" anchor="t"/>
          <a:lstStyle/>
          <a:p>
            <a:pPr marL="0" indent="0">
              <a:buNone/>
            </a:pPr>
            <a:r>
              <a:rPr lang="en-US" sz="1600" dirty="0">
                <a:solidFill>
                  <a:schemeClr val="bg2"/>
                </a:solidFill>
              </a:rPr>
              <a:t>Credit risk, customer behavior, liquidity, regional performance and payment cards across 4,500 accounts</a:t>
            </a:r>
            <a:endParaRPr lang="en-US" sz="1600" dirty="0"/>
          </a:p>
        </p:txBody>
      </p:sp>
      <p:sp>
        <p:nvSpPr>
          <p:cNvPr id="5" name="Stat tile 1"/>
          <p:cNvSpPr/>
          <p:nvPr/>
        </p:nvSpPr>
        <p:spPr>
          <a:xfrm>
            <a:off x="548640" y="3840480"/>
            <a:ext cx="1554480" cy="1051560"/>
          </a:xfrm>
          <a:prstGeom prst="roundRect">
            <a:avLst>
              <a:gd name="adj" fmla="val 6957"/>
            </a:avLst>
          </a:prstGeom>
          <a:solidFill>
            <a:schemeClr val="bg1">
              <a:alpha val="10000"/>
            </a:schemeClr>
          </a:solidFill>
          <a:ln w="6350">
            <a:solidFill>
              <a:schemeClr val="bg1">
                <a:alpha val="30000"/>
              </a:schemeClr>
            </a:solidFill>
            <a:prstDash val="solid"/>
          </a:ln>
        </p:spPr>
        <p:txBody>
          <a:bodyPr/>
          <a:lstStyle/>
          <a:p>
            <a:endParaRPr lang="en-SG"/>
          </a:p>
        </p:txBody>
      </p:sp>
      <p:sp>
        <p:nvSpPr>
          <p:cNvPr id="6" name="Stat value 1"/>
          <p:cNvSpPr txBox="1"/>
          <p:nvPr/>
        </p:nvSpPr>
        <p:spPr>
          <a:xfrm>
            <a:off x="548640" y="3913632"/>
            <a:ext cx="1554480" cy="502920"/>
          </a:xfrm>
          <a:prstGeom prst="rect">
            <a:avLst/>
          </a:prstGeom>
          <a:noFill/>
          <a:ln/>
        </p:spPr>
        <p:txBody>
          <a:bodyPr wrap="square" lIns="0" tIns="0" rIns="0" bIns="0" rtlCol="0" anchor="ctr"/>
          <a:lstStyle/>
          <a:p>
            <a:pPr marL="0" indent="0" algn="ctr">
              <a:buNone/>
            </a:pPr>
            <a:r>
              <a:rPr lang="en-US" sz="2400" b="1" dirty="0">
                <a:solidFill>
                  <a:schemeClr val="bg1"/>
                </a:solidFill>
                <a:latin typeface="Cambria" pitchFamily="34" charset="0"/>
                <a:ea typeface="Cambria" pitchFamily="34" charset="-122"/>
                <a:cs typeface="Cambria" pitchFamily="34" charset="-120"/>
              </a:rPr>
              <a:t>4,500</a:t>
            </a:r>
            <a:endParaRPr lang="en-US" sz="2400" dirty="0"/>
          </a:p>
        </p:txBody>
      </p:sp>
      <p:sp>
        <p:nvSpPr>
          <p:cNvPr id="7" name="Stat label 1"/>
          <p:cNvSpPr txBox="1"/>
          <p:nvPr/>
        </p:nvSpPr>
        <p:spPr>
          <a:xfrm>
            <a:off x="594360" y="4434840"/>
            <a:ext cx="1463040" cy="365760"/>
          </a:xfrm>
          <a:prstGeom prst="rect">
            <a:avLst/>
          </a:prstGeom>
          <a:noFill/>
          <a:ln/>
        </p:spPr>
        <p:txBody>
          <a:bodyPr wrap="square" lIns="0" tIns="0" rIns="0" bIns="0" rtlCol="0" anchor="t"/>
          <a:lstStyle/>
          <a:p>
            <a:pPr marL="0" indent="0" algn="ctr">
              <a:buNone/>
            </a:pPr>
            <a:r>
              <a:rPr lang="en-US" sz="1200" dirty="0">
                <a:solidFill>
                  <a:schemeClr val="bg2"/>
                </a:solidFill>
              </a:rPr>
              <a:t>Active accounts</a:t>
            </a:r>
            <a:endParaRPr lang="en-US" sz="1200" dirty="0"/>
          </a:p>
        </p:txBody>
      </p:sp>
      <p:sp>
        <p:nvSpPr>
          <p:cNvPr id="8" name="Stat tile 2"/>
          <p:cNvSpPr/>
          <p:nvPr/>
        </p:nvSpPr>
        <p:spPr>
          <a:xfrm>
            <a:off x="2240280" y="3840480"/>
            <a:ext cx="1554480" cy="1051560"/>
          </a:xfrm>
          <a:prstGeom prst="roundRect">
            <a:avLst>
              <a:gd name="adj" fmla="val 6957"/>
            </a:avLst>
          </a:prstGeom>
          <a:solidFill>
            <a:schemeClr val="bg1">
              <a:alpha val="10000"/>
            </a:schemeClr>
          </a:solidFill>
          <a:ln w="6350">
            <a:solidFill>
              <a:schemeClr val="bg1">
                <a:alpha val="30000"/>
              </a:schemeClr>
            </a:solidFill>
            <a:prstDash val="solid"/>
          </a:ln>
        </p:spPr>
        <p:txBody>
          <a:bodyPr/>
          <a:lstStyle/>
          <a:p>
            <a:endParaRPr lang="en-SG"/>
          </a:p>
        </p:txBody>
      </p:sp>
      <p:sp>
        <p:nvSpPr>
          <p:cNvPr id="9" name="Stat value 2"/>
          <p:cNvSpPr txBox="1"/>
          <p:nvPr/>
        </p:nvSpPr>
        <p:spPr>
          <a:xfrm>
            <a:off x="2240280" y="3913632"/>
            <a:ext cx="1554480" cy="502920"/>
          </a:xfrm>
          <a:prstGeom prst="rect">
            <a:avLst/>
          </a:prstGeom>
          <a:noFill/>
          <a:ln/>
        </p:spPr>
        <p:txBody>
          <a:bodyPr wrap="square" lIns="0" tIns="0" rIns="0" bIns="0" rtlCol="0" anchor="ctr"/>
          <a:lstStyle/>
          <a:p>
            <a:pPr marL="0" indent="0" algn="ctr">
              <a:buNone/>
            </a:pPr>
            <a:r>
              <a:rPr lang="en-US" sz="2400" b="1" dirty="0">
                <a:solidFill>
                  <a:schemeClr val="bg1"/>
                </a:solidFill>
                <a:latin typeface="Cambria" pitchFamily="34" charset="0"/>
                <a:ea typeface="Cambria" pitchFamily="34" charset="-122"/>
                <a:cs typeface="Cambria" pitchFamily="34" charset="-120"/>
              </a:rPr>
              <a:t>$103.3M</a:t>
            </a:r>
            <a:endParaRPr lang="en-US" sz="2400" dirty="0"/>
          </a:p>
        </p:txBody>
      </p:sp>
      <p:sp>
        <p:nvSpPr>
          <p:cNvPr id="10" name="Stat label 2"/>
          <p:cNvSpPr txBox="1"/>
          <p:nvPr/>
        </p:nvSpPr>
        <p:spPr>
          <a:xfrm>
            <a:off x="2286000" y="4434840"/>
            <a:ext cx="1463040" cy="365760"/>
          </a:xfrm>
          <a:prstGeom prst="rect">
            <a:avLst/>
          </a:prstGeom>
          <a:noFill/>
          <a:ln/>
        </p:spPr>
        <p:txBody>
          <a:bodyPr wrap="square" lIns="0" tIns="0" rIns="0" bIns="0" rtlCol="0" anchor="t"/>
          <a:lstStyle/>
          <a:p>
            <a:pPr marL="0" indent="0" algn="ctr">
              <a:buNone/>
            </a:pPr>
            <a:r>
              <a:rPr lang="en-US" sz="1200" dirty="0">
                <a:solidFill>
                  <a:schemeClr val="bg2"/>
                </a:solidFill>
              </a:rPr>
              <a:t>Loan principal</a:t>
            </a:r>
            <a:endParaRPr lang="en-US" sz="1200" dirty="0"/>
          </a:p>
        </p:txBody>
      </p:sp>
      <p:sp>
        <p:nvSpPr>
          <p:cNvPr id="11" name="Stat tile 3"/>
          <p:cNvSpPr/>
          <p:nvPr/>
        </p:nvSpPr>
        <p:spPr>
          <a:xfrm>
            <a:off x="3931920" y="3840480"/>
            <a:ext cx="1554480" cy="1051560"/>
          </a:xfrm>
          <a:prstGeom prst="roundRect">
            <a:avLst>
              <a:gd name="adj" fmla="val 6957"/>
            </a:avLst>
          </a:prstGeom>
          <a:solidFill>
            <a:schemeClr val="bg1">
              <a:alpha val="10000"/>
            </a:schemeClr>
          </a:solidFill>
          <a:ln w="6350">
            <a:solidFill>
              <a:schemeClr val="bg1">
                <a:alpha val="30000"/>
              </a:schemeClr>
            </a:solidFill>
            <a:prstDash val="solid"/>
          </a:ln>
        </p:spPr>
        <p:txBody>
          <a:bodyPr/>
          <a:lstStyle/>
          <a:p>
            <a:endParaRPr lang="en-SG"/>
          </a:p>
        </p:txBody>
      </p:sp>
      <p:sp>
        <p:nvSpPr>
          <p:cNvPr id="12" name="Stat value 3"/>
          <p:cNvSpPr txBox="1"/>
          <p:nvPr/>
        </p:nvSpPr>
        <p:spPr>
          <a:xfrm>
            <a:off x="3931920" y="3913632"/>
            <a:ext cx="1554480" cy="502920"/>
          </a:xfrm>
          <a:prstGeom prst="rect">
            <a:avLst/>
          </a:prstGeom>
          <a:noFill/>
          <a:ln/>
        </p:spPr>
        <p:txBody>
          <a:bodyPr wrap="square" lIns="0" tIns="0" rIns="0" bIns="0" rtlCol="0" anchor="ctr"/>
          <a:lstStyle/>
          <a:p>
            <a:pPr marL="0" indent="0" algn="ctr">
              <a:buNone/>
            </a:pPr>
            <a:r>
              <a:rPr lang="en-US" sz="2400" b="1" dirty="0">
                <a:solidFill>
                  <a:schemeClr val="bg1"/>
                </a:solidFill>
                <a:latin typeface="Cambria" pitchFamily="34" charset="0"/>
                <a:ea typeface="Cambria" pitchFamily="34" charset="-122"/>
                <a:cs typeface="Cambria" pitchFamily="34" charset="-120"/>
              </a:rPr>
              <a:t>682</a:t>
            </a:r>
            <a:endParaRPr lang="en-US" sz="2400" dirty="0"/>
          </a:p>
        </p:txBody>
      </p:sp>
      <p:sp>
        <p:nvSpPr>
          <p:cNvPr id="13" name="Stat label 3"/>
          <p:cNvSpPr txBox="1"/>
          <p:nvPr/>
        </p:nvSpPr>
        <p:spPr>
          <a:xfrm>
            <a:off x="3977640" y="4434840"/>
            <a:ext cx="1463040" cy="365760"/>
          </a:xfrm>
          <a:prstGeom prst="rect">
            <a:avLst/>
          </a:prstGeom>
          <a:noFill/>
          <a:ln/>
        </p:spPr>
        <p:txBody>
          <a:bodyPr wrap="square" lIns="0" tIns="0" rIns="0" bIns="0" rtlCol="0" anchor="t"/>
          <a:lstStyle/>
          <a:p>
            <a:pPr marL="0" indent="0" algn="ctr">
              <a:buNone/>
            </a:pPr>
            <a:r>
              <a:rPr lang="en-US" sz="1200" dirty="0">
                <a:solidFill>
                  <a:schemeClr val="bg2"/>
                </a:solidFill>
              </a:rPr>
              <a:t>Loan contracts</a:t>
            </a:r>
            <a:endParaRPr lang="en-US" sz="1200" dirty="0"/>
          </a:p>
        </p:txBody>
      </p:sp>
      <p:sp>
        <p:nvSpPr>
          <p:cNvPr id="14" name="Stat tile 4"/>
          <p:cNvSpPr/>
          <p:nvPr/>
        </p:nvSpPr>
        <p:spPr>
          <a:xfrm>
            <a:off x="5623560" y="3840480"/>
            <a:ext cx="1554480" cy="1051560"/>
          </a:xfrm>
          <a:prstGeom prst="roundRect">
            <a:avLst>
              <a:gd name="adj" fmla="val 6957"/>
            </a:avLst>
          </a:prstGeom>
          <a:solidFill>
            <a:schemeClr val="bg1">
              <a:alpha val="10000"/>
            </a:schemeClr>
          </a:solidFill>
          <a:ln w="6350">
            <a:solidFill>
              <a:schemeClr val="bg1">
                <a:alpha val="30000"/>
              </a:schemeClr>
            </a:solidFill>
            <a:prstDash val="solid"/>
          </a:ln>
        </p:spPr>
        <p:txBody>
          <a:bodyPr/>
          <a:lstStyle/>
          <a:p>
            <a:endParaRPr lang="en-SG"/>
          </a:p>
        </p:txBody>
      </p:sp>
      <p:sp>
        <p:nvSpPr>
          <p:cNvPr id="15" name="Stat value 4"/>
          <p:cNvSpPr txBox="1"/>
          <p:nvPr/>
        </p:nvSpPr>
        <p:spPr>
          <a:xfrm>
            <a:off x="5623560" y="3913632"/>
            <a:ext cx="1554480" cy="502920"/>
          </a:xfrm>
          <a:prstGeom prst="rect">
            <a:avLst/>
          </a:prstGeom>
          <a:noFill/>
          <a:ln/>
        </p:spPr>
        <p:txBody>
          <a:bodyPr wrap="square" lIns="0" tIns="0" rIns="0" bIns="0" rtlCol="0" anchor="ctr"/>
          <a:lstStyle/>
          <a:p>
            <a:pPr marL="0" indent="0" algn="ctr">
              <a:buNone/>
            </a:pPr>
            <a:r>
              <a:rPr lang="en-US" sz="2400" b="1" dirty="0">
                <a:solidFill>
                  <a:schemeClr val="bg1"/>
                </a:solidFill>
                <a:latin typeface="Cambria" pitchFamily="34" charset="0"/>
                <a:ea typeface="Cambria" pitchFamily="34" charset="-122"/>
                <a:cs typeface="Cambria" pitchFamily="34" charset="-120"/>
              </a:rPr>
              <a:t>11.14%</a:t>
            </a:r>
            <a:endParaRPr lang="en-US" sz="2400" dirty="0"/>
          </a:p>
        </p:txBody>
      </p:sp>
      <p:sp>
        <p:nvSpPr>
          <p:cNvPr id="16" name="Stat label 4"/>
          <p:cNvSpPr txBox="1"/>
          <p:nvPr/>
        </p:nvSpPr>
        <p:spPr>
          <a:xfrm>
            <a:off x="5669280" y="4434840"/>
            <a:ext cx="1463040" cy="365760"/>
          </a:xfrm>
          <a:prstGeom prst="rect">
            <a:avLst/>
          </a:prstGeom>
          <a:noFill/>
          <a:ln/>
        </p:spPr>
        <p:txBody>
          <a:bodyPr wrap="square" lIns="0" tIns="0" rIns="0" bIns="0" rtlCol="0" anchor="t"/>
          <a:lstStyle/>
          <a:p>
            <a:pPr marL="0" indent="0" algn="ctr">
              <a:buNone/>
            </a:pPr>
            <a:r>
              <a:rPr lang="en-US" sz="1200" dirty="0">
                <a:solidFill>
                  <a:schemeClr val="bg2"/>
                </a:solidFill>
              </a:rPr>
              <a:t>Volume default rate</a:t>
            </a:r>
            <a:endParaRPr lang="en-US" sz="1200" dirty="0"/>
          </a:p>
        </p:txBody>
      </p:sp>
      <p:sp>
        <p:nvSpPr>
          <p:cNvPr id="17" name="Executive summary"/>
          <p:cNvSpPr txBox="1"/>
          <p:nvPr/>
        </p:nvSpPr>
        <p:spPr>
          <a:xfrm>
            <a:off x="548640" y="5166360"/>
            <a:ext cx="6675120" cy="685800"/>
          </a:xfrm>
          <a:prstGeom prst="rect">
            <a:avLst/>
          </a:prstGeom>
          <a:noFill/>
          <a:ln/>
        </p:spPr>
        <p:txBody>
          <a:bodyPr wrap="square" lIns="0" tIns="0" rIns="0" bIns="0" rtlCol="0" anchor="t"/>
          <a:lstStyle/>
          <a:p>
            <a:pPr marL="0" indent="0">
              <a:buNone/>
            </a:pPr>
            <a:r>
              <a:rPr lang="en-US" sz="1400" b="1" dirty="0">
                <a:solidFill>
                  <a:schemeClr val="accent3"/>
                </a:solidFill>
              </a:rPr>
              <a:t>Three executive actions: </a:t>
            </a:r>
            <a:r>
              <a:rPr lang="en-US" sz="1400" dirty="0">
                <a:solidFill>
                  <a:schemeClr val="bg1"/>
                </a:solidFill>
              </a:rPr>
              <a:t>cross-sell payment cards as risk mitigants, set regional LTV caps, and deploy a liquidity early-warning system.</a:t>
            </a:r>
            <a:endParaRPr lang="en-US" sz="1400" dirty="0"/>
          </a:p>
        </p:txBody>
      </p:sp>
      <p:sp>
        <p:nvSpPr>
          <p:cNvPr id="18" name="Presenter placeholder"/>
          <p:cNvSpPr txBox="1"/>
          <p:nvPr/>
        </p:nvSpPr>
        <p:spPr>
          <a:xfrm>
            <a:off x="548640" y="6126480"/>
            <a:ext cx="4572000" cy="274320"/>
          </a:xfrm>
          <a:prstGeom prst="rect">
            <a:avLst/>
          </a:prstGeom>
          <a:noFill/>
          <a:ln/>
        </p:spPr>
        <p:txBody>
          <a:bodyPr wrap="square" lIns="0" tIns="0" rIns="0" bIns="0" rtlCol="0" anchor="ctr"/>
          <a:lstStyle/>
          <a:p>
            <a:pPr marL="0" indent="0">
              <a:buNone/>
            </a:pPr>
            <a:r>
              <a:rPr lang="en-US" sz="1200" dirty="0">
                <a:solidFill>
                  <a:schemeClr val="bg2"/>
                </a:solidFill>
              </a:rPr>
              <a:t>[Presenter name]  |  [Date]</a:t>
            </a:r>
            <a:endParaRPr lang="en-US" sz="1200" dirty="0"/>
          </a:p>
        </p:txBody>
      </p:sp>
      <p:pic>
        <p:nvPicPr>
          <p:cNvPr id="19" name="Logo" descr="PKDD Financial logo"/>
          <p:cNvPicPr>
            <a:picLocks noChangeAspect="1"/>
          </p:cNvPicPr>
          <p:nvPr/>
        </p:nvPicPr>
        <p:blipFill>
          <a:blip r:embed="rId3"/>
          <a:stretch>
            <a:fillRect/>
          </a:stretch>
        </p:blipFill>
        <p:spPr>
          <a:xfrm>
            <a:off x="7818120" y="1325880"/>
            <a:ext cx="3840480" cy="34392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457200" y="320040"/>
            <a:ext cx="11274552"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UNIFIED PORTFOLIO OVERVIEW</a:t>
            </a:r>
            <a:endParaRPr lang="en-US" sz="1200" dirty="0"/>
          </a:p>
        </p:txBody>
      </p:sp>
      <p:sp>
        <p:nvSpPr>
          <p:cNvPr id="3" name="Text 1"/>
          <p:cNvSpPr>
            <a:spLocks noGrp="1"/>
          </p:cNvSpPr>
          <p:nvPr>
            <p:ph type="title" idx="103" hasCustomPrompt="1"/>
          </p:nvPr>
        </p:nvSpPr>
        <p:spPr>
          <a:xfrm>
            <a:off x="457200" y="640080"/>
            <a:ext cx="11274552" cy="685800"/>
          </a:xfrm>
          <a:prstGeom prst="rect">
            <a:avLst/>
          </a:prstGeom>
          <a:noFill/>
          <a:ln/>
        </p:spPr>
        <p:txBody>
          <a:bodyPr wrap="square" lIns="0" tIns="0" rIns="0" bIns="0" rtlCol="0" anchor="ctr"/>
          <a:lstStyle/>
          <a:p>
            <a:pPr marL="0" indent="0" algn="l">
              <a:buNone/>
            </a:pPr>
            <a:r>
              <a:rPr lang="en-US" sz="3000" b="1" dirty="0">
                <a:solidFill>
                  <a:schemeClr val="tx2"/>
                </a:solidFill>
              </a:rPr>
              <a:t>$103.3M deployed across 4,500 accounts</a:t>
            </a:r>
            <a:endParaRPr lang="en-US" sz="3000" dirty="0"/>
          </a:p>
        </p:txBody>
      </p:sp>
      <p:pic>
        <p:nvPicPr>
          <p:cNvPr id="4" name="Dashboard screenshot" descr="Macro Portfolio and Executive Banking Overview dashboard"/>
          <p:cNvPicPr>
            <a:picLocks noChangeAspect="1"/>
          </p:cNvPicPr>
          <p:nvPr/>
        </p:nvPicPr>
        <p:blipFill>
          <a:blip r:embed="rId3"/>
          <a:stretch>
            <a:fillRect/>
          </a:stretch>
        </p:blipFill>
        <p:spPr>
          <a:xfrm>
            <a:off x="457200" y="1508760"/>
            <a:ext cx="7315200" cy="4144412"/>
          </a:xfrm>
          <a:prstGeom prst="rect">
            <a:avLst/>
          </a:prstGeom>
        </p:spPr>
      </p:pic>
      <p:sp>
        <p:nvSpPr>
          <p:cNvPr id="5" name="Caption"/>
          <p:cNvSpPr txBox="1"/>
          <p:nvPr/>
        </p:nvSpPr>
        <p:spPr>
          <a:xfrm>
            <a:off x="457200" y="5762900"/>
            <a:ext cx="7315200" cy="274320"/>
          </a:xfrm>
          <a:prstGeom prst="rect">
            <a:avLst/>
          </a:prstGeom>
          <a:noFill/>
          <a:ln/>
        </p:spPr>
        <p:txBody>
          <a:bodyPr wrap="square" lIns="0" tIns="0" rIns="0" bIns="0" rtlCol="0" anchor="ctr"/>
          <a:lstStyle/>
          <a:p>
            <a:pPr marL="0" indent="0">
              <a:buNone/>
            </a:pPr>
            <a:r>
              <a:rPr lang="en-US" sz="1100" dirty="0">
                <a:solidFill>
                  <a:schemeClr val="accent6"/>
                </a:solidFill>
              </a:rPr>
              <a:t>Source: Power BI, Master Executive View  |  Analytics type: Descriptive</a:t>
            </a:r>
            <a:endParaRPr lang="en-US" sz="1100" dirty="0"/>
          </a:p>
        </p:txBody>
      </p:sp>
      <p:sp>
        <p:nvSpPr>
          <p:cNvPr id="6" name="Insight panel"/>
          <p:cNvSpPr/>
          <p:nvPr/>
        </p:nvSpPr>
        <p:spPr>
          <a:xfrm>
            <a:off x="8046720" y="1508760"/>
            <a:ext cx="3685032" cy="3063240"/>
          </a:xfrm>
          <a:prstGeom prst="roundRect">
            <a:avLst>
              <a:gd name="adj" fmla="val 2985"/>
            </a:avLst>
          </a:prstGeom>
          <a:solidFill>
            <a:schemeClr val="bg2"/>
          </a:solidFill>
          <a:ln w="6350">
            <a:solidFill>
              <a:schemeClr val="bg2"/>
            </a:solidFill>
            <a:prstDash val="solid"/>
          </a:ln>
        </p:spPr>
        <p:txBody>
          <a:bodyPr/>
          <a:lstStyle/>
          <a:p>
            <a:endParaRPr lang="en-SG"/>
          </a:p>
        </p:txBody>
      </p:sp>
      <p:sp>
        <p:nvSpPr>
          <p:cNvPr id="7" name="Insight heading"/>
          <p:cNvSpPr txBox="1"/>
          <p:nvPr/>
        </p:nvSpPr>
        <p:spPr>
          <a:xfrm>
            <a:off x="8275320" y="1645920"/>
            <a:ext cx="3227832"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KEY INSIGHTS</a:t>
            </a:r>
            <a:endParaRPr lang="en-US" sz="1200" dirty="0"/>
          </a:p>
        </p:txBody>
      </p:sp>
      <p:sp>
        <p:nvSpPr>
          <p:cNvPr id="8" name="Insights"/>
          <p:cNvSpPr txBox="1"/>
          <p:nvPr/>
        </p:nvSpPr>
        <p:spPr>
          <a:xfrm>
            <a:off x="8275320" y="1965960"/>
            <a:ext cx="3227832" cy="2496312"/>
          </a:xfrm>
          <a:prstGeom prst="rect">
            <a:avLst/>
          </a:prstGeom>
          <a:noFill/>
          <a:ln/>
        </p:spPr>
        <p:txBody>
          <a:bodyPr wrap="square" lIns="0" tIns="0" rIns="0" bIns="0" rtlCol="0" anchor="t"/>
          <a:lstStyle/>
          <a:p>
            <a:pPr marL="177800" indent="-177800">
              <a:spcAft>
                <a:spcPts val="700"/>
              </a:spcAft>
              <a:buSzPct val="100000"/>
              <a:buChar char="•"/>
            </a:pPr>
            <a:r>
              <a:rPr lang="en-US" sz="1500" b="1" dirty="0">
                <a:solidFill>
                  <a:schemeClr val="tx2"/>
                </a:solidFill>
              </a:rPr>
              <a:t>Scale: </a:t>
            </a:r>
            <a:r>
              <a:rPr lang="en-US" sz="1500" dirty="0">
                <a:solidFill>
                  <a:schemeClr val="tx1"/>
                </a:solidFill>
              </a:rPr>
              <a:t>682 loan contracts totalling $103.26M across 4,500 accounts.</a:t>
            </a:r>
            <a:endParaRPr lang="en-US" sz="1500" dirty="0"/>
          </a:p>
          <a:p>
            <a:pPr marL="177800" indent="-177800">
              <a:spcAft>
                <a:spcPts val="700"/>
              </a:spcAft>
              <a:buSzPct val="100000"/>
              <a:buChar char="•"/>
            </a:pPr>
            <a:r>
              <a:rPr lang="en-US" sz="1500" b="1" dirty="0">
                <a:solidFill>
                  <a:schemeClr val="tx2"/>
                </a:solidFill>
              </a:rPr>
              <a:t>Default: </a:t>
            </a:r>
            <a:r>
              <a:rPr lang="en-US" sz="1500" dirty="0">
                <a:solidFill>
                  <a:schemeClr val="tx1"/>
                </a:solidFill>
              </a:rPr>
              <a:t>76 loans in default (Status B + D): 11.14% by volume, $15.58M or 15.09% by dollars.</a:t>
            </a:r>
            <a:endParaRPr lang="en-US" sz="1500" dirty="0"/>
          </a:p>
          <a:p>
            <a:pPr marL="177800" indent="-177800">
              <a:spcAft>
                <a:spcPts val="700"/>
              </a:spcAft>
              <a:buSzPct val="100000"/>
              <a:buChar char="•"/>
            </a:pPr>
            <a:r>
              <a:rPr lang="en-US" sz="1500" b="1" dirty="0">
                <a:solidFill>
                  <a:schemeClr val="tx2"/>
                </a:solidFill>
              </a:rPr>
              <a:t>Flows: </a:t>
            </a:r>
            <a:r>
              <a:rPr lang="en-US" sz="1500" dirty="0">
                <a:solidFill>
                  <a:schemeClr val="tx1"/>
                </a:solidFill>
              </a:rPr>
              <a:t>$21.23M monthly standing orders; South and North Moravia hold 36.6% of principal.</a:t>
            </a:r>
            <a:endParaRPr lang="en-US" sz="1500" dirty="0"/>
          </a:p>
        </p:txBody>
      </p:sp>
      <p:sp>
        <p:nvSpPr>
          <p:cNvPr id="9" name="Power BI launch button">
            <a:hlinkClick r:id="rId4" tooltip="Replace with your Power BI dashboard link (select shape, Ctrl+K)"/>
          </p:cNvPr>
          <p:cNvSpPr/>
          <p:nvPr/>
        </p:nvSpPr>
        <p:spPr>
          <a:xfrm>
            <a:off x="8046720" y="4709160"/>
            <a:ext cx="3685032" cy="914400"/>
          </a:xfrm>
          <a:prstGeom prst="roundRect">
            <a:avLst>
              <a:gd name="adj" fmla="val 12000"/>
            </a:avLst>
          </a:prstGeom>
          <a:solidFill>
            <a:schemeClr val="accent3"/>
          </a:solidFill>
          <a:ln w="12700">
            <a:solidFill>
              <a:schemeClr val="accent3"/>
            </a:solidFill>
            <a:prstDash val="solid"/>
          </a:ln>
        </p:spPr>
        <p:txBody>
          <a:bodyPr/>
          <a:lstStyle/>
          <a:p>
            <a:endParaRPr lang="en-SG"/>
          </a:p>
        </p:txBody>
      </p:sp>
      <p:sp>
        <p:nvSpPr>
          <p:cNvPr id="10" name="Power BI launch button label">
            <a:hlinkClick r:id="rId5" action="ppaction://hlinkfile"/>
          </p:cNvPr>
          <p:cNvSpPr txBox="1"/>
          <p:nvPr/>
        </p:nvSpPr>
        <p:spPr>
          <a:xfrm>
            <a:off x="8046720" y="4709160"/>
            <a:ext cx="3685032" cy="914400"/>
          </a:xfrm>
          <a:prstGeom prst="rect">
            <a:avLst/>
          </a:prstGeom>
          <a:noFill/>
          <a:ln/>
        </p:spPr>
        <p:txBody>
          <a:bodyPr wrap="square" lIns="635" tIns="635" rIns="635" bIns="635" rtlCol="0" anchor="ctr"/>
          <a:lstStyle/>
          <a:p>
            <a:pPr marL="0" indent="0" algn="ctr">
              <a:buNone/>
            </a:pPr>
            <a:r>
              <a:rPr lang="en-US" sz="1500" b="1" dirty="0">
                <a:solidFill>
                  <a:schemeClr val="tx2"/>
                </a:solidFill>
              </a:rPr>
              <a:t>LAUNCH POWER BI DASHBOARD</a:t>
            </a:r>
            <a:endParaRPr lang="en-US" sz="1500" dirty="0"/>
          </a:p>
        </p:txBody>
      </p:sp>
      <p:sp>
        <p:nvSpPr>
          <p:cNvPr id="25" name="Slide Number Placeholder 0"/>
          <p:cNvSpPr>
            <a:spLocks noGrp="1"/>
          </p:cNvSpPr>
          <p:nvPr>
            <p:ph type="sldNum" sz="quarter" idx="4294967295"/>
          </p:nvPr>
        </p:nvSpPr>
        <p:spPr>
          <a:xfrm>
            <a:off x="10972800" y="6355080"/>
            <a:ext cx="758952" cy="32004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457200" y="320040"/>
            <a:ext cx="11274552"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RESEARCH POINT 1  |  CREDIT DEFAULT RISK</a:t>
            </a:r>
            <a:endParaRPr lang="en-US" sz="1200" dirty="0"/>
          </a:p>
        </p:txBody>
      </p:sp>
      <p:sp>
        <p:nvSpPr>
          <p:cNvPr id="3" name="Text 1"/>
          <p:cNvSpPr>
            <a:spLocks noGrp="1"/>
          </p:cNvSpPr>
          <p:nvPr>
            <p:ph type="title" idx="103" hasCustomPrompt="1"/>
          </p:nvPr>
        </p:nvSpPr>
        <p:spPr>
          <a:xfrm>
            <a:off x="457200" y="640080"/>
            <a:ext cx="11274552" cy="685800"/>
          </a:xfrm>
          <a:prstGeom prst="rect">
            <a:avLst/>
          </a:prstGeom>
          <a:noFill/>
          <a:ln/>
        </p:spPr>
        <p:txBody>
          <a:bodyPr wrap="square" lIns="0" tIns="0" rIns="0" bIns="0" rtlCol="0" anchor="ctr"/>
          <a:lstStyle/>
          <a:p>
            <a:pPr marL="0" indent="0" algn="l">
              <a:buNone/>
            </a:pPr>
            <a:r>
              <a:rPr lang="en-US" sz="3000" b="1" dirty="0">
                <a:solidFill>
                  <a:schemeClr val="tx2"/>
                </a:solidFill>
              </a:rPr>
              <a:t>Default risk is not uniform across the portfolio</a:t>
            </a:r>
            <a:endParaRPr lang="en-US" sz="3000" dirty="0"/>
          </a:p>
        </p:txBody>
      </p:sp>
      <p:pic>
        <p:nvPicPr>
          <p:cNvPr id="4" name="Dashboard screenshot" descr="Credit Default Risk and Portfolio Intelligence dashboard"/>
          <p:cNvPicPr>
            <a:picLocks noChangeAspect="1"/>
          </p:cNvPicPr>
          <p:nvPr/>
        </p:nvPicPr>
        <p:blipFill>
          <a:blip r:embed="rId3"/>
          <a:stretch>
            <a:fillRect/>
          </a:stretch>
        </p:blipFill>
        <p:spPr>
          <a:xfrm>
            <a:off x="457200" y="1508760"/>
            <a:ext cx="7315200" cy="4126782"/>
          </a:xfrm>
          <a:prstGeom prst="rect">
            <a:avLst/>
          </a:prstGeom>
        </p:spPr>
      </p:pic>
      <p:sp>
        <p:nvSpPr>
          <p:cNvPr id="5" name="Caption"/>
          <p:cNvSpPr txBox="1"/>
          <p:nvPr/>
        </p:nvSpPr>
        <p:spPr>
          <a:xfrm>
            <a:off x="457200" y="5745270"/>
            <a:ext cx="7315200" cy="274320"/>
          </a:xfrm>
          <a:prstGeom prst="rect">
            <a:avLst/>
          </a:prstGeom>
          <a:noFill/>
          <a:ln/>
        </p:spPr>
        <p:txBody>
          <a:bodyPr wrap="square" lIns="0" tIns="0" rIns="0" bIns="0" rtlCol="0" anchor="ctr"/>
          <a:lstStyle/>
          <a:p>
            <a:pPr marL="0" indent="0">
              <a:buNone/>
            </a:pPr>
            <a:r>
              <a:rPr lang="en-US" sz="1100" dirty="0">
                <a:solidFill>
                  <a:schemeClr val="accent6"/>
                </a:solidFill>
              </a:rPr>
              <a:t>Source: Power BI, Research_PBI_1  |  Analytics type: General &amp; Predictive</a:t>
            </a:r>
            <a:endParaRPr lang="en-US" sz="1100" dirty="0"/>
          </a:p>
        </p:txBody>
      </p:sp>
      <p:sp>
        <p:nvSpPr>
          <p:cNvPr id="6" name="Insight panel"/>
          <p:cNvSpPr/>
          <p:nvPr/>
        </p:nvSpPr>
        <p:spPr>
          <a:xfrm>
            <a:off x="8046720" y="1508760"/>
            <a:ext cx="3685032" cy="3063240"/>
          </a:xfrm>
          <a:prstGeom prst="roundRect">
            <a:avLst>
              <a:gd name="adj" fmla="val 2985"/>
            </a:avLst>
          </a:prstGeom>
          <a:solidFill>
            <a:schemeClr val="bg2"/>
          </a:solidFill>
          <a:ln w="6350">
            <a:solidFill>
              <a:schemeClr val="bg2"/>
            </a:solidFill>
            <a:prstDash val="solid"/>
          </a:ln>
        </p:spPr>
        <p:txBody>
          <a:bodyPr/>
          <a:lstStyle/>
          <a:p>
            <a:endParaRPr lang="en-SG"/>
          </a:p>
        </p:txBody>
      </p:sp>
      <p:sp>
        <p:nvSpPr>
          <p:cNvPr id="7" name="Insight heading"/>
          <p:cNvSpPr txBox="1"/>
          <p:nvPr/>
        </p:nvSpPr>
        <p:spPr>
          <a:xfrm>
            <a:off x="8275320" y="1645920"/>
            <a:ext cx="3227832"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KEY INSIGHTS</a:t>
            </a:r>
            <a:endParaRPr lang="en-US" sz="1200" dirty="0"/>
          </a:p>
        </p:txBody>
      </p:sp>
      <p:sp>
        <p:nvSpPr>
          <p:cNvPr id="8" name="Insights"/>
          <p:cNvSpPr txBox="1"/>
          <p:nvPr/>
        </p:nvSpPr>
        <p:spPr>
          <a:xfrm>
            <a:off x="8275320" y="1965960"/>
            <a:ext cx="3227832" cy="2496312"/>
          </a:xfrm>
          <a:prstGeom prst="rect">
            <a:avLst/>
          </a:prstGeom>
          <a:noFill/>
          <a:ln/>
        </p:spPr>
        <p:txBody>
          <a:bodyPr wrap="square" lIns="0" tIns="0" rIns="0" bIns="0" rtlCol="0" anchor="t"/>
          <a:lstStyle/>
          <a:p>
            <a:pPr marL="177800" indent="-177800">
              <a:spcAft>
                <a:spcPts val="700"/>
              </a:spcAft>
              <a:buSzPct val="100000"/>
              <a:buChar char="•"/>
            </a:pPr>
            <a:r>
              <a:rPr lang="en-US" sz="1500" b="1" dirty="0">
                <a:solidFill>
                  <a:schemeClr val="tx2"/>
                </a:solidFill>
              </a:rPr>
              <a:t>Mix: </a:t>
            </a:r>
            <a:r>
              <a:rPr lang="en-US" sz="1500" dirty="0">
                <a:solidFill>
                  <a:schemeClr val="tx1"/>
                </a:solidFill>
              </a:rPr>
              <a:t>203 paid in full, 403 current, 31 defaulted, 45 in debt: 76 of 682 loans (11.1%).</a:t>
            </a:r>
            <a:endParaRPr lang="en-US" sz="1500" dirty="0"/>
          </a:p>
          <a:p>
            <a:pPr marL="177800" indent="-177800">
              <a:spcAft>
                <a:spcPts val="700"/>
              </a:spcAft>
              <a:buSzPct val="100000"/>
              <a:buChar char="•"/>
            </a:pPr>
            <a:r>
              <a:rPr lang="en-US" sz="1500" b="1" dirty="0">
                <a:solidFill>
                  <a:schemeClr val="tx2"/>
                </a:solidFill>
              </a:rPr>
              <a:t>Exposure: </a:t>
            </a:r>
            <a:r>
              <a:rPr lang="en-US" sz="1500" dirty="0">
                <a:solidFill>
                  <a:schemeClr val="tx1"/>
                </a:solidFill>
              </a:rPr>
              <a:t>$16M defaulted of $103M; average probability of default is 10.93%.</a:t>
            </a:r>
            <a:endParaRPr lang="en-US" sz="1500" dirty="0"/>
          </a:p>
          <a:p>
            <a:pPr marL="177800" indent="-177800">
              <a:spcAft>
                <a:spcPts val="700"/>
              </a:spcAft>
              <a:buSzPct val="100000"/>
              <a:buChar char="•"/>
            </a:pPr>
            <a:r>
              <a:rPr lang="en-US" sz="1500" b="1" dirty="0">
                <a:solidFill>
                  <a:schemeClr val="tx2"/>
                </a:solidFill>
              </a:rPr>
              <a:t>Term effect: </a:t>
            </a:r>
            <a:r>
              <a:rPr lang="en-US" sz="1500" dirty="0">
                <a:solidFill>
                  <a:schemeClr val="tx1"/>
                </a:solidFill>
              </a:rPr>
              <a:t>Default rises from 8.4% on 12-month loans to 11.5% to 12.3% on 24 to 60 months.</a:t>
            </a:r>
            <a:endParaRPr lang="en-US" sz="1500" dirty="0"/>
          </a:p>
        </p:txBody>
      </p:sp>
      <p:sp>
        <p:nvSpPr>
          <p:cNvPr id="9" name="Power BI launch button">
            <a:hlinkClick r:id="rId4" tooltip="Replace with your Power BI dashboard link (select shape, Ctrl+K)"/>
          </p:cNvPr>
          <p:cNvSpPr/>
          <p:nvPr/>
        </p:nvSpPr>
        <p:spPr>
          <a:xfrm>
            <a:off x="8046720" y="4709160"/>
            <a:ext cx="3685032" cy="914400"/>
          </a:xfrm>
          <a:prstGeom prst="roundRect">
            <a:avLst>
              <a:gd name="adj" fmla="val 12000"/>
            </a:avLst>
          </a:prstGeom>
          <a:solidFill>
            <a:schemeClr val="accent3"/>
          </a:solidFill>
          <a:ln w="12700">
            <a:solidFill>
              <a:schemeClr val="accent3"/>
            </a:solidFill>
            <a:prstDash val="solid"/>
          </a:ln>
        </p:spPr>
        <p:txBody>
          <a:bodyPr/>
          <a:lstStyle/>
          <a:p>
            <a:endParaRPr lang="en-SG"/>
          </a:p>
        </p:txBody>
      </p:sp>
      <p:sp>
        <p:nvSpPr>
          <p:cNvPr id="10" name="Power BI launch button label">
            <a:hlinkClick r:id="rId5" action="ppaction://hlinkfile"/>
          </p:cNvPr>
          <p:cNvSpPr txBox="1"/>
          <p:nvPr/>
        </p:nvSpPr>
        <p:spPr>
          <a:xfrm>
            <a:off x="8046720" y="4709160"/>
            <a:ext cx="3685032" cy="914400"/>
          </a:xfrm>
          <a:prstGeom prst="rect">
            <a:avLst/>
          </a:prstGeom>
          <a:noFill/>
          <a:ln/>
        </p:spPr>
        <p:txBody>
          <a:bodyPr wrap="square" lIns="635" tIns="635" rIns="635" bIns="635" rtlCol="0" anchor="ctr"/>
          <a:lstStyle/>
          <a:p>
            <a:pPr marL="0" indent="0" algn="ctr">
              <a:buNone/>
            </a:pPr>
            <a:r>
              <a:rPr lang="en-US" sz="1500" b="1" dirty="0">
                <a:solidFill>
                  <a:schemeClr val="tx2"/>
                </a:solidFill>
              </a:rPr>
              <a:t>LAUNCH POWER BI DASHBOARD</a:t>
            </a:r>
            <a:endParaRPr lang="en-US" sz="1500" dirty="0"/>
          </a:p>
        </p:txBody>
      </p:sp>
      <p:sp>
        <p:nvSpPr>
          <p:cNvPr id="25" name="Slide Number Placeholder 0"/>
          <p:cNvSpPr>
            <a:spLocks noGrp="1"/>
          </p:cNvSpPr>
          <p:nvPr>
            <p:ph type="sldNum" sz="quarter" idx="4294967295"/>
          </p:nvPr>
        </p:nvSpPr>
        <p:spPr>
          <a:xfrm>
            <a:off x="10972800" y="6355080"/>
            <a:ext cx="758952" cy="32004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457200" y="320040"/>
            <a:ext cx="11274552"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RESEARCH POINT 2  |  RFM CUSTOMER PERSONAS</a:t>
            </a:r>
            <a:endParaRPr lang="en-US" sz="1200" dirty="0"/>
          </a:p>
        </p:txBody>
      </p:sp>
      <p:sp>
        <p:nvSpPr>
          <p:cNvPr id="3" name="Text 1"/>
          <p:cNvSpPr>
            <a:spLocks noGrp="1"/>
          </p:cNvSpPr>
          <p:nvPr>
            <p:ph type="title" idx="103" hasCustomPrompt="1"/>
          </p:nvPr>
        </p:nvSpPr>
        <p:spPr>
          <a:xfrm>
            <a:off x="457200" y="640080"/>
            <a:ext cx="11274552" cy="685800"/>
          </a:xfrm>
          <a:prstGeom prst="rect">
            <a:avLst/>
          </a:prstGeom>
          <a:noFill/>
          <a:ln/>
        </p:spPr>
        <p:txBody>
          <a:bodyPr wrap="square" lIns="0" tIns="0" rIns="0" bIns="0" rtlCol="0" anchor="ctr"/>
          <a:lstStyle/>
          <a:p>
            <a:pPr marL="0" indent="0" algn="l">
              <a:buNone/>
            </a:pPr>
            <a:r>
              <a:rPr lang="en-US" sz="3000" b="1" dirty="0">
                <a:solidFill>
                  <a:schemeClr val="tx2"/>
                </a:solidFill>
              </a:rPr>
              <a:t>VIP Champions carry the value; At-Risk is small</a:t>
            </a:r>
            <a:endParaRPr lang="en-US" sz="3000" dirty="0"/>
          </a:p>
        </p:txBody>
      </p:sp>
      <p:pic>
        <p:nvPicPr>
          <p:cNvPr id="4" name="Dashboard screenshot" descr="RFM Customer Profiling and Behavioral Intelligence dashboard"/>
          <p:cNvPicPr>
            <a:picLocks noChangeAspect="1"/>
          </p:cNvPicPr>
          <p:nvPr/>
        </p:nvPicPr>
        <p:blipFill>
          <a:blip r:embed="rId3"/>
          <a:stretch>
            <a:fillRect/>
          </a:stretch>
        </p:blipFill>
        <p:spPr>
          <a:xfrm>
            <a:off x="457200" y="1508760"/>
            <a:ext cx="7315200" cy="4104388"/>
          </a:xfrm>
          <a:prstGeom prst="rect">
            <a:avLst/>
          </a:prstGeom>
        </p:spPr>
      </p:pic>
      <p:sp>
        <p:nvSpPr>
          <p:cNvPr id="5" name="Caption"/>
          <p:cNvSpPr txBox="1"/>
          <p:nvPr/>
        </p:nvSpPr>
        <p:spPr>
          <a:xfrm>
            <a:off x="457200" y="5722876"/>
            <a:ext cx="7315200" cy="274320"/>
          </a:xfrm>
          <a:prstGeom prst="rect">
            <a:avLst/>
          </a:prstGeom>
          <a:noFill/>
          <a:ln/>
        </p:spPr>
        <p:txBody>
          <a:bodyPr wrap="square" lIns="0" tIns="0" rIns="0" bIns="0" rtlCol="0" anchor="ctr"/>
          <a:lstStyle/>
          <a:p>
            <a:pPr marL="0" indent="0">
              <a:buNone/>
            </a:pPr>
            <a:r>
              <a:rPr lang="en-US" sz="1100" dirty="0">
                <a:solidFill>
                  <a:schemeClr val="accent6"/>
                </a:solidFill>
              </a:rPr>
              <a:t>Source: Power BI, Research_PBI_2  |  Analytics type: General &amp; Predictive</a:t>
            </a:r>
            <a:endParaRPr lang="en-US" sz="1100" dirty="0"/>
          </a:p>
        </p:txBody>
      </p:sp>
      <p:sp>
        <p:nvSpPr>
          <p:cNvPr id="6" name="Insight panel"/>
          <p:cNvSpPr/>
          <p:nvPr/>
        </p:nvSpPr>
        <p:spPr>
          <a:xfrm>
            <a:off x="8046720" y="1508760"/>
            <a:ext cx="3685032" cy="3063240"/>
          </a:xfrm>
          <a:prstGeom prst="roundRect">
            <a:avLst>
              <a:gd name="adj" fmla="val 2985"/>
            </a:avLst>
          </a:prstGeom>
          <a:solidFill>
            <a:schemeClr val="bg2"/>
          </a:solidFill>
          <a:ln w="6350">
            <a:solidFill>
              <a:schemeClr val="bg2"/>
            </a:solidFill>
            <a:prstDash val="solid"/>
          </a:ln>
        </p:spPr>
        <p:txBody>
          <a:bodyPr/>
          <a:lstStyle/>
          <a:p>
            <a:endParaRPr lang="en-SG"/>
          </a:p>
        </p:txBody>
      </p:sp>
      <p:sp>
        <p:nvSpPr>
          <p:cNvPr id="7" name="Insight heading"/>
          <p:cNvSpPr txBox="1"/>
          <p:nvPr/>
        </p:nvSpPr>
        <p:spPr>
          <a:xfrm>
            <a:off x="8275320" y="1645920"/>
            <a:ext cx="3227832"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KEY INSIGHTS</a:t>
            </a:r>
            <a:endParaRPr lang="en-US" sz="1200" dirty="0"/>
          </a:p>
        </p:txBody>
      </p:sp>
      <p:sp>
        <p:nvSpPr>
          <p:cNvPr id="8" name="Insights"/>
          <p:cNvSpPr txBox="1"/>
          <p:nvPr/>
        </p:nvSpPr>
        <p:spPr>
          <a:xfrm>
            <a:off x="8275320" y="1965960"/>
            <a:ext cx="3227832" cy="2496312"/>
          </a:xfrm>
          <a:prstGeom prst="rect">
            <a:avLst/>
          </a:prstGeom>
          <a:noFill/>
          <a:ln/>
        </p:spPr>
        <p:txBody>
          <a:bodyPr wrap="square" lIns="0" tIns="0" rIns="0" bIns="0" rtlCol="0" anchor="t"/>
          <a:lstStyle/>
          <a:p>
            <a:pPr marL="177800" indent="-177800">
              <a:spcAft>
                <a:spcPts val="700"/>
              </a:spcAft>
              <a:buSzPct val="100000"/>
              <a:buChar char="•"/>
            </a:pPr>
            <a:r>
              <a:rPr lang="en-US" sz="1500" b="1" dirty="0">
                <a:solidFill>
                  <a:schemeClr val="tx2"/>
                </a:solidFill>
              </a:rPr>
              <a:t>Personas: </a:t>
            </a:r>
            <a:r>
              <a:rPr lang="en-US" sz="1500" dirty="0">
                <a:solidFill>
                  <a:schemeClr val="tx1"/>
                </a:solidFill>
              </a:rPr>
              <a:t>K-Means on log-scaled RFM splits 4,500 accounts into four behavioral personas.</a:t>
            </a:r>
            <a:endParaRPr lang="en-US" sz="1500" dirty="0"/>
          </a:p>
          <a:p>
            <a:pPr marL="177800" indent="-177800">
              <a:spcAft>
                <a:spcPts val="700"/>
              </a:spcAft>
              <a:buSzPct val="100000"/>
              <a:buChar char="•"/>
            </a:pPr>
            <a:r>
              <a:rPr lang="en-US" sz="1500" b="1" dirty="0">
                <a:solidFill>
                  <a:schemeClr val="tx2"/>
                </a:solidFill>
              </a:rPr>
              <a:t>Value gap: </a:t>
            </a:r>
            <a:r>
              <a:rPr lang="en-US" sz="1500" dirty="0">
                <a:solidFill>
                  <a:schemeClr val="tx1"/>
                </a:solidFill>
              </a:rPr>
              <a:t>VIPs average $2.46M vs $0.64M for Low-Frequency Savers in the under-25 cohort.</a:t>
            </a:r>
            <a:endParaRPr lang="en-US" sz="1500" dirty="0"/>
          </a:p>
          <a:p>
            <a:pPr marL="177800" indent="-177800">
              <a:spcAft>
                <a:spcPts val="700"/>
              </a:spcAft>
              <a:buSzPct val="100000"/>
              <a:buChar char="•"/>
            </a:pPr>
            <a:r>
              <a:rPr lang="en-US" sz="1500" b="1" dirty="0">
                <a:solidFill>
                  <a:schemeClr val="tx2"/>
                </a:solidFill>
              </a:rPr>
              <a:t>Action: </a:t>
            </a:r>
            <a:r>
              <a:rPr lang="en-US" sz="1500" dirty="0">
                <a:solidFill>
                  <a:schemeClr val="tx1"/>
                </a:solidFill>
              </a:rPr>
              <a:t>Retain At-Risk accounts early; upsell premium credit lines to VIPs.</a:t>
            </a:r>
            <a:endParaRPr lang="en-US" sz="1500" dirty="0"/>
          </a:p>
        </p:txBody>
      </p:sp>
      <p:sp>
        <p:nvSpPr>
          <p:cNvPr id="9" name="Power BI launch button">
            <a:hlinkClick r:id="rId4" tooltip="Replace with your Power BI dashboard link (select shape, Ctrl+K)"/>
          </p:cNvPr>
          <p:cNvSpPr/>
          <p:nvPr/>
        </p:nvSpPr>
        <p:spPr>
          <a:xfrm>
            <a:off x="8046720" y="4709160"/>
            <a:ext cx="3685032" cy="914400"/>
          </a:xfrm>
          <a:prstGeom prst="roundRect">
            <a:avLst>
              <a:gd name="adj" fmla="val 12000"/>
            </a:avLst>
          </a:prstGeom>
          <a:solidFill>
            <a:schemeClr val="accent3"/>
          </a:solidFill>
          <a:ln w="12700">
            <a:solidFill>
              <a:schemeClr val="accent3"/>
            </a:solidFill>
            <a:prstDash val="solid"/>
          </a:ln>
        </p:spPr>
        <p:txBody>
          <a:bodyPr/>
          <a:lstStyle/>
          <a:p>
            <a:endParaRPr lang="en-SG"/>
          </a:p>
        </p:txBody>
      </p:sp>
      <p:sp>
        <p:nvSpPr>
          <p:cNvPr id="10" name="Power BI launch button label">
            <a:hlinkClick r:id="rId5" action="ppaction://hlinkfile"/>
          </p:cNvPr>
          <p:cNvSpPr txBox="1"/>
          <p:nvPr/>
        </p:nvSpPr>
        <p:spPr>
          <a:xfrm>
            <a:off x="8046720" y="4709160"/>
            <a:ext cx="3685032" cy="914400"/>
          </a:xfrm>
          <a:prstGeom prst="rect">
            <a:avLst/>
          </a:prstGeom>
          <a:noFill/>
          <a:ln/>
        </p:spPr>
        <p:txBody>
          <a:bodyPr wrap="square" lIns="635" tIns="635" rIns="635" bIns="635" rtlCol="0" anchor="ctr"/>
          <a:lstStyle/>
          <a:p>
            <a:pPr marL="0" indent="0" algn="ctr">
              <a:buNone/>
            </a:pPr>
            <a:r>
              <a:rPr lang="en-US" sz="1500" b="1" dirty="0">
                <a:solidFill>
                  <a:schemeClr val="tx2"/>
                </a:solidFill>
              </a:rPr>
              <a:t>LAUNCH POWER BI DASHBOARD</a:t>
            </a:r>
            <a:endParaRPr lang="en-US" sz="1500" dirty="0"/>
          </a:p>
        </p:txBody>
      </p:sp>
      <p:sp>
        <p:nvSpPr>
          <p:cNvPr id="25" name="Slide Number Placeholder 0"/>
          <p:cNvSpPr>
            <a:spLocks noGrp="1"/>
          </p:cNvSpPr>
          <p:nvPr>
            <p:ph type="sldNum" sz="quarter" idx="4294967295"/>
          </p:nvPr>
        </p:nvSpPr>
        <p:spPr>
          <a:xfrm>
            <a:off x="10972800" y="6355080"/>
            <a:ext cx="758952" cy="32004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457200" y="320040"/>
            <a:ext cx="11274552"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RESEARCH POINT 3  |  LIQUIDITY &amp; STANDING ORDERS</a:t>
            </a:r>
            <a:endParaRPr lang="en-US" sz="1200" dirty="0"/>
          </a:p>
        </p:txBody>
      </p:sp>
      <p:sp>
        <p:nvSpPr>
          <p:cNvPr id="3" name="Text 1"/>
          <p:cNvSpPr>
            <a:spLocks noGrp="1"/>
          </p:cNvSpPr>
          <p:nvPr>
            <p:ph type="title" idx="103" hasCustomPrompt="1"/>
          </p:nvPr>
        </p:nvSpPr>
        <p:spPr>
          <a:xfrm>
            <a:off x="457200" y="640080"/>
            <a:ext cx="11274552" cy="685800"/>
          </a:xfrm>
          <a:prstGeom prst="rect">
            <a:avLst/>
          </a:prstGeom>
          <a:noFill/>
          <a:ln/>
        </p:spPr>
        <p:txBody>
          <a:bodyPr wrap="square" lIns="0" tIns="0" rIns="0" bIns="0" rtlCol="0" anchor="ctr"/>
          <a:lstStyle/>
          <a:p>
            <a:pPr marL="0" indent="0" algn="l">
              <a:buNone/>
            </a:pPr>
            <a:r>
              <a:rPr lang="en-US" sz="3000" b="1" dirty="0">
                <a:solidFill>
                  <a:schemeClr val="tx2"/>
                </a:solidFill>
              </a:rPr>
              <a:t>Household payments dominate recurring outflows</a:t>
            </a:r>
            <a:endParaRPr lang="en-US" sz="3000" dirty="0"/>
          </a:p>
        </p:txBody>
      </p:sp>
      <p:pic>
        <p:nvPicPr>
          <p:cNvPr id="4" name="Dashboard screenshot" descr="Liquidity Analysis and Standing Payment Order Coverage dashboard"/>
          <p:cNvPicPr>
            <a:picLocks noChangeAspect="1"/>
          </p:cNvPicPr>
          <p:nvPr/>
        </p:nvPicPr>
        <p:blipFill>
          <a:blip r:embed="rId3"/>
          <a:stretch>
            <a:fillRect/>
          </a:stretch>
        </p:blipFill>
        <p:spPr>
          <a:xfrm>
            <a:off x="457200" y="1508760"/>
            <a:ext cx="7315200" cy="4100945"/>
          </a:xfrm>
          <a:prstGeom prst="rect">
            <a:avLst/>
          </a:prstGeom>
        </p:spPr>
      </p:pic>
      <p:sp>
        <p:nvSpPr>
          <p:cNvPr id="5" name="Caption"/>
          <p:cNvSpPr txBox="1"/>
          <p:nvPr/>
        </p:nvSpPr>
        <p:spPr>
          <a:xfrm>
            <a:off x="457200" y="5719433"/>
            <a:ext cx="7315200" cy="274320"/>
          </a:xfrm>
          <a:prstGeom prst="rect">
            <a:avLst/>
          </a:prstGeom>
          <a:noFill/>
          <a:ln/>
        </p:spPr>
        <p:txBody>
          <a:bodyPr wrap="square" lIns="0" tIns="0" rIns="0" bIns="0" rtlCol="0" anchor="ctr"/>
          <a:lstStyle/>
          <a:p>
            <a:pPr marL="0" indent="0">
              <a:buNone/>
            </a:pPr>
            <a:r>
              <a:rPr lang="en-US" sz="1100" dirty="0">
                <a:solidFill>
                  <a:schemeClr val="accent6"/>
                </a:solidFill>
              </a:rPr>
              <a:t>Source: Power BI, Research_PBI_3  |  Analytics type: General &amp; Predictive</a:t>
            </a:r>
            <a:endParaRPr lang="en-US" sz="1100" dirty="0"/>
          </a:p>
        </p:txBody>
      </p:sp>
      <p:sp>
        <p:nvSpPr>
          <p:cNvPr id="6" name="Insight panel"/>
          <p:cNvSpPr/>
          <p:nvPr/>
        </p:nvSpPr>
        <p:spPr>
          <a:xfrm>
            <a:off x="8046720" y="1508760"/>
            <a:ext cx="3685032" cy="3063240"/>
          </a:xfrm>
          <a:prstGeom prst="roundRect">
            <a:avLst>
              <a:gd name="adj" fmla="val 2985"/>
            </a:avLst>
          </a:prstGeom>
          <a:solidFill>
            <a:schemeClr val="bg2"/>
          </a:solidFill>
          <a:ln w="6350">
            <a:solidFill>
              <a:schemeClr val="bg2"/>
            </a:solidFill>
            <a:prstDash val="solid"/>
          </a:ln>
        </p:spPr>
        <p:txBody>
          <a:bodyPr/>
          <a:lstStyle/>
          <a:p>
            <a:endParaRPr lang="en-SG"/>
          </a:p>
        </p:txBody>
      </p:sp>
      <p:sp>
        <p:nvSpPr>
          <p:cNvPr id="7" name="Insight heading"/>
          <p:cNvSpPr txBox="1"/>
          <p:nvPr/>
        </p:nvSpPr>
        <p:spPr>
          <a:xfrm>
            <a:off x="8275320" y="1645920"/>
            <a:ext cx="3227832"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KEY INSIGHTS</a:t>
            </a:r>
            <a:endParaRPr lang="en-US" sz="1200" dirty="0"/>
          </a:p>
        </p:txBody>
      </p:sp>
      <p:sp>
        <p:nvSpPr>
          <p:cNvPr id="8" name="Insights"/>
          <p:cNvSpPr txBox="1"/>
          <p:nvPr/>
        </p:nvSpPr>
        <p:spPr>
          <a:xfrm>
            <a:off x="8275320" y="1965960"/>
            <a:ext cx="3227832" cy="2496312"/>
          </a:xfrm>
          <a:prstGeom prst="rect">
            <a:avLst/>
          </a:prstGeom>
          <a:noFill/>
          <a:ln/>
        </p:spPr>
        <p:txBody>
          <a:bodyPr wrap="square" lIns="0" tIns="0" rIns="0" bIns="0" rtlCol="0" anchor="t"/>
          <a:lstStyle/>
          <a:p>
            <a:pPr marL="177800" indent="-177800">
              <a:spcAft>
                <a:spcPts val="700"/>
              </a:spcAft>
              <a:buSzPct val="100000"/>
              <a:buChar char="•"/>
            </a:pPr>
            <a:r>
              <a:rPr lang="en-US" sz="1500" b="1" dirty="0">
                <a:solidFill>
                  <a:schemeClr val="tx2"/>
                </a:solidFill>
              </a:rPr>
              <a:t>Scale: </a:t>
            </a:r>
            <a:r>
              <a:rPr lang="en-US" sz="1500" dirty="0">
                <a:solidFill>
                  <a:schemeClr val="tx1"/>
                </a:solidFill>
              </a:rPr>
              <a:t>3,758 accounts carry $21M of monthly standing orders.</a:t>
            </a:r>
            <a:endParaRPr lang="en-US" sz="1500" dirty="0"/>
          </a:p>
          <a:p>
            <a:pPr marL="177800" indent="-177800">
              <a:spcAft>
                <a:spcPts val="700"/>
              </a:spcAft>
              <a:buSzPct val="100000"/>
              <a:buChar char="•"/>
            </a:pPr>
            <a:r>
              <a:rPr lang="en-US" sz="1500" b="1" dirty="0">
                <a:solidFill>
                  <a:schemeClr val="tx2"/>
                </a:solidFill>
              </a:rPr>
              <a:t>Mix: </a:t>
            </a:r>
            <a:r>
              <a:rPr lang="en-US" sz="1500" dirty="0">
                <a:solidFill>
                  <a:schemeClr val="tx1"/>
                </a:solidFill>
              </a:rPr>
              <a:t>SIPO household payments lead (~$14M); UVER loan repayments and other transfers follow (~$3M each).</a:t>
            </a:r>
            <a:endParaRPr lang="en-US" sz="1500" dirty="0"/>
          </a:p>
          <a:p>
            <a:pPr marL="177800" indent="-177800">
              <a:spcAft>
                <a:spcPts val="700"/>
              </a:spcAft>
              <a:buSzPct val="100000"/>
              <a:buChar char="•"/>
            </a:pPr>
            <a:r>
              <a:rPr lang="en-US" sz="1500" b="1" dirty="0">
                <a:solidFill>
                  <a:schemeClr val="tx2"/>
                </a:solidFill>
              </a:rPr>
              <a:t>Stress signal: </a:t>
            </a:r>
            <a:r>
              <a:rPr lang="en-US" sz="1500" dirty="0">
                <a:solidFill>
                  <a:schemeClr val="tx1"/>
                </a:solidFill>
              </a:rPr>
              <a:t>High loan payments plus high standing orders mark the early-warning group.</a:t>
            </a:r>
            <a:endParaRPr lang="en-US" sz="1500" dirty="0"/>
          </a:p>
        </p:txBody>
      </p:sp>
      <p:sp>
        <p:nvSpPr>
          <p:cNvPr id="9" name="Power BI launch button">
            <a:hlinkClick r:id="rId4" tooltip="Replace with your Power BI dashboard link (select shape, Ctrl+K)"/>
          </p:cNvPr>
          <p:cNvSpPr/>
          <p:nvPr/>
        </p:nvSpPr>
        <p:spPr>
          <a:xfrm>
            <a:off x="8046720" y="4709160"/>
            <a:ext cx="3685032" cy="914400"/>
          </a:xfrm>
          <a:prstGeom prst="roundRect">
            <a:avLst>
              <a:gd name="adj" fmla="val 12000"/>
            </a:avLst>
          </a:prstGeom>
          <a:solidFill>
            <a:schemeClr val="accent3"/>
          </a:solidFill>
          <a:ln w="12700">
            <a:solidFill>
              <a:schemeClr val="accent3"/>
            </a:solidFill>
            <a:prstDash val="solid"/>
          </a:ln>
        </p:spPr>
        <p:txBody>
          <a:bodyPr/>
          <a:lstStyle/>
          <a:p>
            <a:endParaRPr lang="en-SG"/>
          </a:p>
        </p:txBody>
      </p:sp>
      <p:sp>
        <p:nvSpPr>
          <p:cNvPr id="10" name="Power BI launch button label">
            <a:hlinkClick r:id="rId5" action="ppaction://hlinkfile"/>
          </p:cNvPr>
          <p:cNvSpPr txBox="1"/>
          <p:nvPr/>
        </p:nvSpPr>
        <p:spPr>
          <a:xfrm>
            <a:off x="8046720" y="4709160"/>
            <a:ext cx="3685032" cy="914400"/>
          </a:xfrm>
          <a:prstGeom prst="rect">
            <a:avLst/>
          </a:prstGeom>
          <a:noFill/>
          <a:ln/>
        </p:spPr>
        <p:txBody>
          <a:bodyPr wrap="square" lIns="635" tIns="635" rIns="635" bIns="635" rtlCol="0" anchor="ctr"/>
          <a:lstStyle/>
          <a:p>
            <a:pPr marL="0" indent="0" algn="ctr">
              <a:buNone/>
            </a:pPr>
            <a:r>
              <a:rPr lang="en-US" sz="1500" b="1" dirty="0">
                <a:solidFill>
                  <a:schemeClr val="tx2"/>
                </a:solidFill>
              </a:rPr>
              <a:t>LAUNCH POWER BI DASHBOARD</a:t>
            </a:r>
            <a:endParaRPr lang="en-US" sz="1500" dirty="0"/>
          </a:p>
        </p:txBody>
      </p:sp>
      <p:sp>
        <p:nvSpPr>
          <p:cNvPr id="25" name="Slide Number Placeholder 0"/>
          <p:cNvSpPr>
            <a:spLocks noGrp="1"/>
          </p:cNvSpPr>
          <p:nvPr>
            <p:ph type="sldNum" sz="quarter" idx="4294967295"/>
          </p:nvPr>
        </p:nvSpPr>
        <p:spPr>
          <a:xfrm>
            <a:off x="10972800" y="6355080"/>
            <a:ext cx="758952" cy="32004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457200" y="320040"/>
            <a:ext cx="11274552"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RESEARCH POINT 4  |  REGIONAL BRANCH PERFORMANCE</a:t>
            </a:r>
            <a:endParaRPr lang="en-US" sz="1200" dirty="0"/>
          </a:p>
        </p:txBody>
      </p:sp>
      <p:sp>
        <p:nvSpPr>
          <p:cNvPr id="3" name="Text 1"/>
          <p:cNvSpPr>
            <a:spLocks noGrp="1"/>
          </p:cNvSpPr>
          <p:nvPr>
            <p:ph type="title" idx="103" hasCustomPrompt="1"/>
          </p:nvPr>
        </p:nvSpPr>
        <p:spPr>
          <a:xfrm>
            <a:off x="457200" y="640080"/>
            <a:ext cx="11274552" cy="685800"/>
          </a:xfrm>
          <a:prstGeom prst="rect">
            <a:avLst/>
          </a:prstGeom>
          <a:noFill/>
          <a:ln/>
        </p:spPr>
        <p:txBody>
          <a:bodyPr wrap="square" lIns="0" tIns="0" rIns="0" bIns="0" rtlCol="0" anchor="ctr"/>
          <a:lstStyle/>
          <a:p>
            <a:pPr marL="0" indent="0" algn="l">
              <a:buNone/>
            </a:pPr>
            <a:r>
              <a:rPr lang="en-US" sz="3000" b="1" dirty="0">
                <a:solidFill>
                  <a:schemeClr val="tx2"/>
                </a:solidFill>
              </a:rPr>
              <a:t>North Moravia carries the highest default rate</a:t>
            </a:r>
            <a:endParaRPr lang="en-US" sz="3000" dirty="0"/>
          </a:p>
        </p:txBody>
      </p:sp>
      <p:pic>
        <p:nvPicPr>
          <p:cNvPr id="4" name="Dashboard screenshot" descr="Spatial and Regional Branch Performance dashboard"/>
          <p:cNvPicPr>
            <a:picLocks noChangeAspect="1"/>
          </p:cNvPicPr>
          <p:nvPr/>
        </p:nvPicPr>
        <p:blipFill>
          <a:blip r:embed="rId3"/>
          <a:stretch>
            <a:fillRect/>
          </a:stretch>
        </p:blipFill>
        <p:spPr>
          <a:xfrm>
            <a:off x="457200" y="1508760"/>
            <a:ext cx="7315200" cy="4121098"/>
          </a:xfrm>
          <a:prstGeom prst="rect">
            <a:avLst/>
          </a:prstGeom>
        </p:spPr>
      </p:pic>
      <p:sp>
        <p:nvSpPr>
          <p:cNvPr id="5" name="Caption"/>
          <p:cNvSpPr txBox="1"/>
          <p:nvPr/>
        </p:nvSpPr>
        <p:spPr>
          <a:xfrm>
            <a:off x="457200" y="5739586"/>
            <a:ext cx="7315200" cy="274320"/>
          </a:xfrm>
          <a:prstGeom prst="rect">
            <a:avLst/>
          </a:prstGeom>
          <a:noFill/>
          <a:ln/>
        </p:spPr>
        <p:txBody>
          <a:bodyPr wrap="square" lIns="0" tIns="0" rIns="0" bIns="0" rtlCol="0" anchor="ctr"/>
          <a:lstStyle/>
          <a:p>
            <a:pPr marL="0" indent="0">
              <a:buNone/>
            </a:pPr>
            <a:r>
              <a:rPr lang="en-US" sz="1100" dirty="0">
                <a:solidFill>
                  <a:schemeClr val="accent6"/>
                </a:solidFill>
              </a:rPr>
              <a:t>Source: Power BI, Research_PBI_4  |  Analytics type: General &amp; Predictive</a:t>
            </a:r>
            <a:endParaRPr lang="en-US" sz="1100" dirty="0"/>
          </a:p>
        </p:txBody>
      </p:sp>
      <p:sp>
        <p:nvSpPr>
          <p:cNvPr id="6" name="Insight panel"/>
          <p:cNvSpPr/>
          <p:nvPr/>
        </p:nvSpPr>
        <p:spPr>
          <a:xfrm>
            <a:off x="8046720" y="1508760"/>
            <a:ext cx="3685032" cy="3063240"/>
          </a:xfrm>
          <a:prstGeom prst="roundRect">
            <a:avLst>
              <a:gd name="adj" fmla="val 2985"/>
            </a:avLst>
          </a:prstGeom>
          <a:solidFill>
            <a:schemeClr val="bg2"/>
          </a:solidFill>
          <a:ln w="6350">
            <a:solidFill>
              <a:schemeClr val="bg2"/>
            </a:solidFill>
            <a:prstDash val="solid"/>
          </a:ln>
        </p:spPr>
        <p:txBody>
          <a:bodyPr/>
          <a:lstStyle/>
          <a:p>
            <a:endParaRPr lang="en-SG"/>
          </a:p>
        </p:txBody>
      </p:sp>
      <p:sp>
        <p:nvSpPr>
          <p:cNvPr id="7" name="Insight heading"/>
          <p:cNvSpPr txBox="1"/>
          <p:nvPr/>
        </p:nvSpPr>
        <p:spPr>
          <a:xfrm>
            <a:off x="8275320" y="1645920"/>
            <a:ext cx="3227832"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KEY INSIGHTS</a:t>
            </a:r>
            <a:endParaRPr lang="en-US" sz="1200" dirty="0"/>
          </a:p>
        </p:txBody>
      </p:sp>
      <p:sp>
        <p:nvSpPr>
          <p:cNvPr id="8" name="Insights"/>
          <p:cNvSpPr txBox="1"/>
          <p:nvPr/>
        </p:nvSpPr>
        <p:spPr>
          <a:xfrm>
            <a:off x="8275320" y="1965960"/>
            <a:ext cx="3227832" cy="2496312"/>
          </a:xfrm>
          <a:prstGeom prst="rect">
            <a:avLst/>
          </a:prstGeom>
          <a:noFill/>
          <a:ln/>
        </p:spPr>
        <p:txBody>
          <a:bodyPr wrap="square" lIns="0" tIns="0" rIns="0" bIns="0" rtlCol="0" anchor="t"/>
          <a:lstStyle/>
          <a:p>
            <a:pPr marL="177800" indent="-177800">
              <a:spcAft>
                <a:spcPts val="700"/>
              </a:spcAft>
              <a:buSzPct val="100000"/>
              <a:buChar char="•"/>
            </a:pPr>
            <a:r>
              <a:rPr lang="en-US" sz="1500" b="1" dirty="0">
                <a:solidFill>
                  <a:schemeClr val="tx2"/>
                </a:solidFill>
              </a:rPr>
              <a:t>Concentration: </a:t>
            </a:r>
            <a:r>
              <a:rPr lang="en-US" sz="1500" dirty="0">
                <a:solidFill>
                  <a:schemeClr val="tx1"/>
                </a:solidFill>
              </a:rPr>
              <a:t>South and North Moravia hold $37.76M, or 36.6% of total principal.</a:t>
            </a:r>
            <a:endParaRPr lang="en-US" sz="1500" dirty="0"/>
          </a:p>
          <a:p>
            <a:pPr marL="177800" indent="-177800">
              <a:spcAft>
                <a:spcPts val="700"/>
              </a:spcAft>
              <a:buSzPct val="100000"/>
              <a:buChar char="•"/>
            </a:pPr>
            <a:r>
              <a:rPr lang="en-US" sz="1500" b="1" dirty="0">
                <a:solidFill>
                  <a:schemeClr val="tx2"/>
                </a:solidFill>
              </a:rPr>
              <a:t>Hot spot: </a:t>
            </a:r>
            <a:r>
              <a:rPr lang="en-US" sz="1500" dirty="0">
                <a:solidFill>
                  <a:schemeClr val="tx1"/>
                </a:solidFill>
              </a:rPr>
              <a:t>North Moravia shows ~21% default by dollars; North Bohemia is lowest at ~2%.</a:t>
            </a:r>
            <a:endParaRPr lang="en-US" sz="1500" dirty="0"/>
          </a:p>
          <a:p>
            <a:pPr marL="177800" indent="-177800">
              <a:spcAft>
                <a:spcPts val="700"/>
              </a:spcAft>
              <a:buSzPct val="100000"/>
              <a:buChar char="•"/>
            </a:pPr>
            <a:r>
              <a:rPr lang="en-US" sz="1500" b="1" dirty="0">
                <a:solidFill>
                  <a:schemeClr val="tx2"/>
                </a:solidFill>
              </a:rPr>
              <a:t>Not just salary: </a:t>
            </a:r>
            <a:r>
              <a:rPr lang="en-US" sz="1500" dirty="0">
                <a:solidFill>
                  <a:schemeClr val="tx1"/>
                </a:solidFill>
              </a:rPr>
              <a:t>Prague has the top salary ($12.5K) yet ~16% default, so local limits beat one rule.</a:t>
            </a:r>
            <a:endParaRPr lang="en-US" sz="1500" dirty="0"/>
          </a:p>
        </p:txBody>
      </p:sp>
      <p:sp>
        <p:nvSpPr>
          <p:cNvPr id="9" name="Power BI launch button">
            <a:hlinkClick r:id="rId4" tooltip="Replace with your Power BI dashboard link (select shape, Ctrl+K)"/>
          </p:cNvPr>
          <p:cNvSpPr/>
          <p:nvPr/>
        </p:nvSpPr>
        <p:spPr>
          <a:xfrm>
            <a:off x="8046720" y="4709160"/>
            <a:ext cx="3685032" cy="914400"/>
          </a:xfrm>
          <a:prstGeom prst="roundRect">
            <a:avLst>
              <a:gd name="adj" fmla="val 12000"/>
            </a:avLst>
          </a:prstGeom>
          <a:solidFill>
            <a:schemeClr val="accent3"/>
          </a:solidFill>
          <a:ln w="12700">
            <a:solidFill>
              <a:schemeClr val="accent3"/>
            </a:solidFill>
            <a:prstDash val="solid"/>
          </a:ln>
        </p:spPr>
        <p:txBody>
          <a:bodyPr/>
          <a:lstStyle/>
          <a:p>
            <a:endParaRPr lang="en-SG"/>
          </a:p>
        </p:txBody>
      </p:sp>
      <p:sp>
        <p:nvSpPr>
          <p:cNvPr id="10" name="Power BI launch button label">
            <a:hlinkClick r:id="rId5" action="ppaction://hlinkfile"/>
          </p:cNvPr>
          <p:cNvSpPr txBox="1"/>
          <p:nvPr/>
        </p:nvSpPr>
        <p:spPr>
          <a:xfrm>
            <a:off x="8046720" y="4709160"/>
            <a:ext cx="3685032" cy="914400"/>
          </a:xfrm>
          <a:prstGeom prst="rect">
            <a:avLst/>
          </a:prstGeom>
          <a:noFill/>
          <a:ln/>
        </p:spPr>
        <p:txBody>
          <a:bodyPr wrap="square" lIns="635" tIns="635" rIns="635" bIns="635" rtlCol="0" anchor="ctr"/>
          <a:lstStyle/>
          <a:p>
            <a:pPr marL="0" indent="0" algn="ctr">
              <a:buNone/>
            </a:pPr>
            <a:r>
              <a:rPr lang="en-US" sz="1500" b="1" dirty="0">
                <a:solidFill>
                  <a:schemeClr val="tx2"/>
                </a:solidFill>
              </a:rPr>
              <a:t>LAUNCH POWER BI DASHBOARD</a:t>
            </a:r>
            <a:endParaRPr lang="en-US" sz="1500" dirty="0"/>
          </a:p>
        </p:txBody>
      </p:sp>
      <p:sp>
        <p:nvSpPr>
          <p:cNvPr id="25" name="Slide Number Placeholder 0"/>
          <p:cNvSpPr>
            <a:spLocks noGrp="1"/>
          </p:cNvSpPr>
          <p:nvPr>
            <p:ph type="sldNum" sz="quarter" idx="4294967295"/>
          </p:nvPr>
        </p:nvSpPr>
        <p:spPr>
          <a:xfrm>
            <a:off x="10972800" y="6355080"/>
            <a:ext cx="758952" cy="32004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457200" y="320040"/>
            <a:ext cx="11274552"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RESEARCH POINT 5  |  PAYMENT CARD RISK SYNERGY</a:t>
            </a:r>
            <a:endParaRPr lang="en-US" sz="1200" dirty="0"/>
          </a:p>
        </p:txBody>
      </p:sp>
      <p:sp>
        <p:nvSpPr>
          <p:cNvPr id="3" name="Text 1"/>
          <p:cNvSpPr>
            <a:spLocks noGrp="1"/>
          </p:cNvSpPr>
          <p:nvPr>
            <p:ph type="title" idx="103" hasCustomPrompt="1"/>
          </p:nvPr>
        </p:nvSpPr>
        <p:spPr>
          <a:xfrm>
            <a:off x="457200" y="640080"/>
            <a:ext cx="11274552" cy="685800"/>
          </a:xfrm>
          <a:prstGeom prst="rect">
            <a:avLst/>
          </a:prstGeom>
          <a:noFill/>
          <a:ln/>
        </p:spPr>
        <p:txBody>
          <a:bodyPr wrap="square" lIns="0" tIns="0" rIns="0" bIns="0" rtlCol="0" anchor="ctr"/>
          <a:lstStyle/>
          <a:p>
            <a:pPr marL="0" indent="0" algn="l">
              <a:buNone/>
            </a:pPr>
            <a:r>
              <a:rPr lang="en-US" sz="3000" b="1" dirty="0">
                <a:solidFill>
                  <a:schemeClr val="tx2"/>
                </a:solidFill>
              </a:rPr>
              <a:t>Cardholders default about 4× less often</a:t>
            </a:r>
            <a:endParaRPr lang="en-US" sz="3000" dirty="0"/>
          </a:p>
        </p:txBody>
      </p:sp>
      <p:pic>
        <p:nvPicPr>
          <p:cNvPr id="4" name="Dashboard screenshot" descr="Payment Card Adoption and Credit Risk Intelligence dashboard"/>
          <p:cNvPicPr>
            <a:picLocks noChangeAspect="1"/>
          </p:cNvPicPr>
          <p:nvPr/>
        </p:nvPicPr>
        <p:blipFill>
          <a:blip r:embed="rId3"/>
          <a:stretch>
            <a:fillRect/>
          </a:stretch>
        </p:blipFill>
        <p:spPr>
          <a:xfrm>
            <a:off x="457200" y="1508760"/>
            <a:ext cx="7315200" cy="4114484"/>
          </a:xfrm>
          <a:prstGeom prst="rect">
            <a:avLst/>
          </a:prstGeom>
        </p:spPr>
      </p:pic>
      <p:sp>
        <p:nvSpPr>
          <p:cNvPr id="5" name="Caption"/>
          <p:cNvSpPr txBox="1"/>
          <p:nvPr/>
        </p:nvSpPr>
        <p:spPr>
          <a:xfrm>
            <a:off x="457200" y="5732972"/>
            <a:ext cx="7315200" cy="274320"/>
          </a:xfrm>
          <a:prstGeom prst="rect">
            <a:avLst/>
          </a:prstGeom>
          <a:noFill/>
          <a:ln/>
        </p:spPr>
        <p:txBody>
          <a:bodyPr wrap="square" lIns="0" tIns="0" rIns="0" bIns="0" rtlCol="0" anchor="ctr"/>
          <a:lstStyle/>
          <a:p>
            <a:pPr marL="0" indent="0">
              <a:buNone/>
            </a:pPr>
            <a:r>
              <a:rPr lang="en-US" sz="1100" dirty="0">
                <a:solidFill>
                  <a:schemeClr val="accent6"/>
                </a:solidFill>
              </a:rPr>
              <a:t>Source: Power BI, Research_PBI_5  |  Analytics type: General &amp; Predictive</a:t>
            </a:r>
            <a:endParaRPr lang="en-US" sz="1100" dirty="0"/>
          </a:p>
        </p:txBody>
      </p:sp>
      <p:sp>
        <p:nvSpPr>
          <p:cNvPr id="6" name="Insight panel"/>
          <p:cNvSpPr/>
          <p:nvPr/>
        </p:nvSpPr>
        <p:spPr>
          <a:xfrm>
            <a:off x="8046720" y="1508760"/>
            <a:ext cx="3685032" cy="3063240"/>
          </a:xfrm>
          <a:prstGeom prst="roundRect">
            <a:avLst>
              <a:gd name="adj" fmla="val 2985"/>
            </a:avLst>
          </a:prstGeom>
          <a:solidFill>
            <a:schemeClr val="bg2"/>
          </a:solidFill>
          <a:ln w="6350">
            <a:solidFill>
              <a:schemeClr val="bg2"/>
            </a:solidFill>
            <a:prstDash val="solid"/>
          </a:ln>
        </p:spPr>
        <p:txBody>
          <a:bodyPr/>
          <a:lstStyle/>
          <a:p>
            <a:endParaRPr lang="en-SG"/>
          </a:p>
        </p:txBody>
      </p:sp>
      <p:sp>
        <p:nvSpPr>
          <p:cNvPr id="7" name="Insight heading"/>
          <p:cNvSpPr txBox="1"/>
          <p:nvPr/>
        </p:nvSpPr>
        <p:spPr>
          <a:xfrm>
            <a:off x="8275320" y="1645920"/>
            <a:ext cx="3227832"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KEY INSIGHTS</a:t>
            </a:r>
            <a:endParaRPr lang="en-US" sz="1200" dirty="0"/>
          </a:p>
        </p:txBody>
      </p:sp>
      <p:sp>
        <p:nvSpPr>
          <p:cNvPr id="8" name="Stat tile 1"/>
          <p:cNvSpPr/>
          <p:nvPr/>
        </p:nvSpPr>
        <p:spPr>
          <a:xfrm>
            <a:off x="8275320" y="1965960"/>
            <a:ext cx="1545336" cy="868680"/>
          </a:xfrm>
          <a:prstGeom prst="roundRect">
            <a:avLst>
              <a:gd name="adj" fmla="val 8421"/>
            </a:avLst>
          </a:prstGeom>
          <a:solidFill>
            <a:schemeClr val="bg1"/>
          </a:solidFill>
          <a:ln w="6350">
            <a:solidFill>
              <a:schemeClr val="bg2"/>
            </a:solidFill>
            <a:prstDash val="solid"/>
          </a:ln>
        </p:spPr>
        <p:txBody>
          <a:bodyPr/>
          <a:lstStyle/>
          <a:p>
            <a:endParaRPr lang="en-SG"/>
          </a:p>
        </p:txBody>
      </p:sp>
      <p:sp>
        <p:nvSpPr>
          <p:cNvPr id="9" name="Stat value 1"/>
          <p:cNvSpPr txBox="1"/>
          <p:nvPr/>
        </p:nvSpPr>
        <p:spPr>
          <a:xfrm>
            <a:off x="8275320" y="2011680"/>
            <a:ext cx="1545336" cy="457200"/>
          </a:xfrm>
          <a:prstGeom prst="rect">
            <a:avLst/>
          </a:prstGeom>
          <a:noFill/>
          <a:ln/>
        </p:spPr>
        <p:txBody>
          <a:bodyPr wrap="square" lIns="0" tIns="0" rIns="0" bIns="0" rtlCol="0" anchor="ctr"/>
          <a:lstStyle/>
          <a:p>
            <a:pPr marL="0" indent="0" algn="ctr">
              <a:buNone/>
            </a:pPr>
            <a:r>
              <a:rPr lang="en-US" sz="2600" b="1" dirty="0">
                <a:solidFill>
                  <a:schemeClr val="accent5"/>
                </a:solidFill>
                <a:latin typeface="Cambria" pitchFamily="34" charset="0"/>
                <a:ea typeface="Cambria" pitchFamily="34" charset="-122"/>
                <a:cs typeface="Cambria" pitchFamily="34" charset="-120"/>
              </a:rPr>
              <a:t>4.35%</a:t>
            </a:r>
            <a:endParaRPr lang="en-US" sz="2600" dirty="0"/>
          </a:p>
        </p:txBody>
      </p:sp>
      <p:sp>
        <p:nvSpPr>
          <p:cNvPr id="10" name="Stat label 1"/>
          <p:cNvSpPr txBox="1"/>
          <p:nvPr/>
        </p:nvSpPr>
        <p:spPr>
          <a:xfrm>
            <a:off x="8321040" y="2468880"/>
            <a:ext cx="1453896" cy="320040"/>
          </a:xfrm>
          <a:prstGeom prst="rect">
            <a:avLst/>
          </a:prstGeom>
          <a:noFill/>
          <a:ln/>
        </p:spPr>
        <p:txBody>
          <a:bodyPr wrap="square" lIns="0" tIns="0" rIns="0" bIns="0" rtlCol="0" anchor="t"/>
          <a:lstStyle/>
          <a:p>
            <a:pPr marL="0" indent="0" algn="ctr">
              <a:buNone/>
            </a:pPr>
            <a:r>
              <a:rPr lang="en-US" sz="1100" dirty="0">
                <a:solidFill>
                  <a:schemeClr val="accent6"/>
                </a:solidFill>
              </a:rPr>
              <a:t>Cardholder default rate</a:t>
            </a:r>
            <a:endParaRPr lang="en-US" sz="1100" dirty="0"/>
          </a:p>
        </p:txBody>
      </p:sp>
      <p:sp>
        <p:nvSpPr>
          <p:cNvPr id="11" name="Stat tile 2"/>
          <p:cNvSpPr/>
          <p:nvPr/>
        </p:nvSpPr>
        <p:spPr>
          <a:xfrm>
            <a:off x="9957816" y="1965960"/>
            <a:ext cx="1545336" cy="868680"/>
          </a:xfrm>
          <a:prstGeom prst="roundRect">
            <a:avLst>
              <a:gd name="adj" fmla="val 8421"/>
            </a:avLst>
          </a:prstGeom>
          <a:solidFill>
            <a:schemeClr val="bg1"/>
          </a:solidFill>
          <a:ln w="6350">
            <a:solidFill>
              <a:schemeClr val="bg2"/>
            </a:solidFill>
            <a:prstDash val="solid"/>
          </a:ln>
        </p:spPr>
        <p:txBody>
          <a:bodyPr/>
          <a:lstStyle/>
          <a:p>
            <a:endParaRPr lang="en-SG"/>
          </a:p>
        </p:txBody>
      </p:sp>
      <p:sp>
        <p:nvSpPr>
          <p:cNvPr id="12" name="Stat value 2"/>
          <p:cNvSpPr txBox="1"/>
          <p:nvPr/>
        </p:nvSpPr>
        <p:spPr>
          <a:xfrm>
            <a:off x="9957816" y="2011680"/>
            <a:ext cx="1545336" cy="457200"/>
          </a:xfrm>
          <a:prstGeom prst="rect">
            <a:avLst/>
          </a:prstGeom>
          <a:noFill/>
          <a:ln/>
        </p:spPr>
        <p:txBody>
          <a:bodyPr wrap="square" lIns="0" tIns="0" rIns="0" bIns="0" rtlCol="0" anchor="ctr"/>
          <a:lstStyle/>
          <a:p>
            <a:pPr marL="0" indent="0" algn="ctr">
              <a:buNone/>
            </a:pPr>
            <a:r>
              <a:rPr lang="en-US" sz="2600" b="1" dirty="0">
                <a:solidFill>
                  <a:schemeClr val="accent4"/>
                </a:solidFill>
                <a:latin typeface="Cambria" pitchFamily="34" charset="0"/>
                <a:ea typeface="Cambria" pitchFamily="34" charset="-122"/>
                <a:cs typeface="Cambria" pitchFamily="34" charset="-120"/>
              </a:rPr>
              <a:t>18.90%</a:t>
            </a:r>
            <a:endParaRPr lang="en-US" sz="2600" dirty="0"/>
          </a:p>
        </p:txBody>
      </p:sp>
      <p:sp>
        <p:nvSpPr>
          <p:cNvPr id="13" name="Stat label 2"/>
          <p:cNvSpPr txBox="1"/>
          <p:nvPr/>
        </p:nvSpPr>
        <p:spPr>
          <a:xfrm>
            <a:off x="10003536" y="2468880"/>
            <a:ext cx="1453896" cy="320040"/>
          </a:xfrm>
          <a:prstGeom prst="rect">
            <a:avLst/>
          </a:prstGeom>
          <a:noFill/>
          <a:ln/>
        </p:spPr>
        <p:txBody>
          <a:bodyPr wrap="square" lIns="0" tIns="0" rIns="0" bIns="0" rtlCol="0" anchor="t"/>
          <a:lstStyle/>
          <a:p>
            <a:pPr marL="0" indent="0" algn="ctr">
              <a:buNone/>
            </a:pPr>
            <a:r>
              <a:rPr lang="en-US" sz="1100" dirty="0">
                <a:solidFill>
                  <a:schemeClr val="accent6"/>
                </a:solidFill>
              </a:rPr>
              <a:t>Non-cardholder default rate</a:t>
            </a:r>
            <a:endParaRPr lang="en-US" sz="1100" dirty="0"/>
          </a:p>
        </p:txBody>
      </p:sp>
      <p:sp>
        <p:nvSpPr>
          <p:cNvPr id="14" name="Insights"/>
          <p:cNvSpPr txBox="1"/>
          <p:nvPr/>
        </p:nvSpPr>
        <p:spPr>
          <a:xfrm>
            <a:off x="8275320" y="2971800"/>
            <a:ext cx="3227832" cy="1490472"/>
          </a:xfrm>
          <a:prstGeom prst="rect">
            <a:avLst/>
          </a:prstGeom>
          <a:noFill/>
          <a:ln/>
        </p:spPr>
        <p:txBody>
          <a:bodyPr wrap="square" lIns="0" tIns="0" rIns="0" bIns="0" rtlCol="0" anchor="t"/>
          <a:lstStyle/>
          <a:p>
            <a:pPr marL="177800" indent="-177800">
              <a:spcAft>
                <a:spcPts val="700"/>
              </a:spcAft>
              <a:buSzPct val="100000"/>
              <a:buChar char="•"/>
            </a:pPr>
            <a:r>
              <a:rPr lang="en-US" sz="1500" b="1" dirty="0">
                <a:solidFill>
                  <a:schemeClr val="tx2"/>
                </a:solidFill>
              </a:rPr>
              <a:t>Reach: </a:t>
            </a:r>
            <a:r>
              <a:rPr lang="en-US" sz="1500" dirty="0">
                <a:solidFill>
                  <a:schemeClr val="tx1"/>
                </a:solidFill>
              </a:rPr>
              <a:t>892 cards, 20% penetration; Classic is ~73% of 1998 issuance.</a:t>
            </a:r>
            <a:endParaRPr lang="en-US" sz="1500" dirty="0"/>
          </a:p>
          <a:p>
            <a:pPr marL="177800" indent="-177800">
              <a:spcAft>
                <a:spcPts val="700"/>
              </a:spcAft>
              <a:buSzPct val="100000"/>
              <a:buChar char="•"/>
            </a:pPr>
            <a:r>
              <a:rPr lang="en-US" sz="1500" b="1" dirty="0">
                <a:solidFill>
                  <a:schemeClr val="tx2"/>
                </a:solidFill>
              </a:rPr>
              <a:t>Loan size: </a:t>
            </a:r>
            <a:r>
              <a:rPr lang="en-US" sz="1500" dirty="0">
                <a:solidFill>
                  <a:schemeClr val="tx1"/>
                </a:solidFill>
              </a:rPr>
              <a:t>Junior cardholders borrow most ($222K avg), then Gold ($162K), Classic ($149K).</a:t>
            </a:r>
            <a:endParaRPr lang="en-US" sz="1500" dirty="0"/>
          </a:p>
        </p:txBody>
      </p:sp>
      <p:sp>
        <p:nvSpPr>
          <p:cNvPr id="15" name="Power BI launch button">
            <a:hlinkClick r:id="rId4" tooltip="Replace with your Power BI dashboard link (select shape, Ctrl+K)"/>
          </p:cNvPr>
          <p:cNvSpPr/>
          <p:nvPr/>
        </p:nvSpPr>
        <p:spPr>
          <a:xfrm>
            <a:off x="8046720" y="4709160"/>
            <a:ext cx="3685032" cy="914400"/>
          </a:xfrm>
          <a:prstGeom prst="roundRect">
            <a:avLst>
              <a:gd name="adj" fmla="val 12000"/>
            </a:avLst>
          </a:prstGeom>
          <a:solidFill>
            <a:schemeClr val="accent3"/>
          </a:solidFill>
          <a:ln w="12700">
            <a:solidFill>
              <a:schemeClr val="accent3"/>
            </a:solidFill>
            <a:prstDash val="solid"/>
          </a:ln>
        </p:spPr>
        <p:txBody>
          <a:bodyPr/>
          <a:lstStyle/>
          <a:p>
            <a:endParaRPr lang="en-SG"/>
          </a:p>
        </p:txBody>
      </p:sp>
      <p:sp>
        <p:nvSpPr>
          <p:cNvPr id="16" name="Power BI launch button label">
            <a:hlinkClick r:id="rId5" action="ppaction://hlinkfile"/>
          </p:cNvPr>
          <p:cNvSpPr txBox="1"/>
          <p:nvPr/>
        </p:nvSpPr>
        <p:spPr>
          <a:xfrm>
            <a:off x="8046720" y="4709160"/>
            <a:ext cx="3685032" cy="914400"/>
          </a:xfrm>
          <a:prstGeom prst="rect">
            <a:avLst/>
          </a:prstGeom>
          <a:noFill/>
          <a:ln/>
        </p:spPr>
        <p:txBody>
          <a:bodyPr wrap="square" lIns="635" tIns="635" rIns="635" bIns="635" rtlCol="0" anchor="ctr"/>
          <a:lstStyle/>
          <a:p>
            <a:pPr marL="0" indent="0" algn="ctr">
              <a:buNone/>
            </a:pPr>
            <a:r>
              <a:rPr lang="en-US" sz="1500" b="1" dirty="0">
                <a:solidFill>
                  <a:schemeClr val="tx2"/>
                </a:solidFill>
              </a:rPr>
              <a:t>LAUNCH POWER BI DASHBOARD</a:t>
            </a:r>
            <a:endParaRPr lang="en-US" sz="1500" dirty="0"/>
          </a:p>
        </p:txBody>
      </p:sp>
      <p:sp>
        <p:nvSpPr>
          <p:cNvPr id="25" name="Slide Number Placeholder 0"/>
          <p:cNvSpPr>
            <a:spLocks noGrp="1"/>
          </p:cNvSpPr>
          <p:nvPr>
            <p:ph type="sldNum" sz="quarter" idx="4294967295"/>
          </p:nvPr>
        </p:nvSpPr>
        <p:spPr>
          <a:xfrm>
            <a:off x="10972800" y="6355080"/>
            <a:ext cx="758952" cy="32004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457200" y="320040"/>
            <a:ext cx="11274552"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EXAMINER BRIEFING  |  GENERAL VS. PREDICTIVE</a:t>
            </a:r>
            <a:endParaRPr lang="en-US" sz="1200" dirty="0"/>
          </a:p>
        </p:txBody>
      </p:sp>
      <p:sp>
        <p:nvSpPr>
          <p:cNvPr id="3" name="Text 1"/>
          <p:cNvSpPr>
            <a:spLocks noGrp="1"/>
          </p:cNvSpPr>
          <p:nvPr>
            <p:ph type="title" idx="103" hasCustomPrompt="1"/>
          </p:nvPr>
        </p:nvSpPr>
        <p:spPr>
          <a:xfrm>
            <a:off x="457200" y="640080"/>
            <a:ext cx="11274552" cy="685800"/>
          </a:xfrm>
          <a:prstGeom prst="rect">
            <a:avLst/>
          </a:prstGeom>
          <a:noFill/>
          <a:ln/>
        </p:spPr>
        <p:txBody>
          <a:bodyPr wrap="square" lIns="0" tIns="0" rIns="0" bIns="0" rtlCol="0" anchor="ctr"/>
          <a:lstStyle/>
          <a:p>
            <a:pPr marL="0" indent="0" algn="l">
              <a:buNone/>
            </a:pPr>
            <a:r>
              <a:rPr lang="en-US" sz="3000" b="1" dirty="0">
                <a:solidFill>
                  <a:schemeClr val="tx2"/>
                </a:solidFill>
              </a:rPr>
              <a:t>From describing the past to predicting risk</a:t>
            </a:r>
            <a:endParaRPr lang="en-US" sz="3000" dirty="0"/>
          </a:p>
        </p:txBody>
      </p:sp>
      <p:sp>
        <p:nvSpPr>
          <p:cNvPr id="4" name="Framing line"/>
          <p:cNvSpPr txBox="1"/>
          <p:nvPr/>
        </p:nvSpPr>
        <p:spPr>
          <a:xfrm>
            <a:off x="457200" y="1371600"/>
            <a:ext cx="11274552" cy="365760"/>
          </a:xfrm>
          <a:prstGeom prst="rect">
            <a:avLst/>
          </a:prstGeom>
          <a:noFill/>
          <a:ln/>
        </p:spPr>
        <p:txBody>
          <a:bodyPr wrap="square" lIns="0" tIns="0" rIns="0" bIns="0" rtlCol="0" anchor="ctr"/>
          <a:lstStyle/>
          <a:p>
            <a:pPr marL="0" indent="0">
              <a:buNone/>
            </a:pPr>
            <a:r>
              <a:rPr lang="en-US" sz="1600" b="1" dirty="0">
                <a:solidFill>
                  <a:schemeClr val="tx2"/>
                </a:solidFill>
              </a:rPr>
              <a:t>Descriptive visuals </a:t>
            </a:r>
            <a:r>
              <a:rPr lang="en-US" sz="1600" dirty="0">
                <a:solidFill>
                  <a:schemeClr val="tx1"/>
                </a:solidFill>
              </a:rPr>
              <a:t>answer "what happened".  </a:t>
            </a:r>
            <a:r>
              <a:rPr lang="en-US" sz="1600" b="1" dirty="0">
                <a:solidFill>
                  <a:schemeClr val="accent1"/>
                </a:solidFill>
              </a:rPr>
              <a:t>Predictive visuals </a:t>
            </a:r>
            <a:r>
              <a:rPr lang="en-US" sz="1600" dirty="0">
                <a:solidFill>
                  <a:schemeClr val="tx1"/>
                </a:solidFill>
              </a:rPr>
              <a:t>answer "what will happen".</a:t>
            </a:r>
            <a:endParaRPr lang="en-US" sz="1600" dirty="0"/>
          </a:p>
        </p:txBody>
      </p:sp>
      <p:graphicFrame>
        <p:nvGraphicFramePr>
          <p:cNvPr id="9" name="Classification matrix"/>
          <p:cNvGraphicFramePr>
            <a:graphicFrameLocks noGrp="1"/>
          </p:cNvGraphicFramePr>
          <p:nvPr>
            <p:extLst>
              <p:ext uri="{D42A27DB-BD31-4B8C-83A1-F6EECF244321}">
                <p14:modId xmlns:p14="http://schemas.microsoft.com/office/powerpoint/2010/main" val="1579011935"/>
              </p:ext>
            </p:extLst>
          </p:nvPr>
        </p:nvGraphicFramePr>
        <p:xfrm>
          <a:off x="457200" y="1874520"/>
          <a:ext cx="11274552" cy="914400"/>
        </p:xfrm>
        <a:graphic>
          <a:graphicData uri="http://schemas.openxmlformats.org/drawingml/2006/table">
            <a:tbl>
              <a:tblPr/>
              <a:tblGrid>
                <a:gridCol w="228600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gridCol w="1673352">
                  <a:extLst>
                    <a:ext uri="{9D8B030D-6E8A-4147-A177-3AD203B41FA5}">
                      <a16:colId xmlns:a16="http://schemas.microsoft.com/office/drawing/2014/main" val="20003"/>
                    </a:ext>
                  </a:extLst>
                </a:gridCol>
              </a:tblGrid>
              <a:tr h="411480">
                <a:tc>
                  <a:txBody>
                    <a:bodyPr/>
                    <a:lstStyle/>
                    <a:p>
                      <a:pPr marL="0" indent="0">
                        <a:buNone/>
                      </a:pPr>
                      <a:r>
                        <a:rPr lang="en-US" sz="1300" b="1" dirty="0">
                          <a:solidFill>
                            <a:schemeClr val="bg1"/>
                          </a:solidFill>
                        </a:rPr>
                        <a:t>Research dimension</a:t>
                      </a:r>
                      <a:endParaRPr lang="en-US" sz="1300" dirty="0"/>
                    </a:p>
                  </a:txBody>
                  <a:tcPr marL="109728" marR="10972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General analysis (descriptive)</a:t>
                      </a:r>
                      <a:endParaRPr lang="en-US" sz="1300" dirty="0"/>
                    </a:p>
                  </a:txBody>
                  <a:tcPr marL="109728" marR="10972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en-US" sz="1300" b="1" dirty="0">
                          <a:solidFill>
                            <a:schemeClr val="bg1"/>
                          </a:solidFill>
                        </a:rPr>
                        <a:t>Predictive analysis (diagnostic)</a:t>
                      </a:r>
                      <a:endParaRPr lang="en-US" sz="1300" dirty="0"/>
                    </a:p>
                  </a:txBody>
                  <a:tcPr marL="109728" marR="10972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en-US" sz="1300" b="1" dirty="0">
                          <a:solidFill>
                            <a:schemeClr val="bg1"/>
                          </a:solidFill>
                        </a:rPr>
                        <a:t>Primary purpose</a:t>
                      </a:r>
                      <a:endParaRPr lang="en-US" sz="1300" dirty="0"/>
                    </a:p>
                  </a:txBody>
                  <a:tcPr marL="109728" marR="10972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713232">
                <a:tc>
                  <a:txBody>
                    <a:bodyPr/>
                    <a:lstStyle/>
                    <a:p>
                      <a:pPr marL="0" indent="0">
                        <a:buNone/>
                      </a:pPr>
                      <a:r>
                        <a:rPr lang="en-US" sz="1200" b="1" dirty="0">
                          <a:solidFill>
                            <a:schemeClr val="tx2"/>
                          </a:solidFill>
                        </a:rPr>
                        <a:t>RP1  Credit default risk</a:t>
                      </a:r>
                      <a:endParaRPr lang="en-US" sz="1200" dirty="0"/>
                    </a:p>
                  </a:txBody>
                  <a:tcPr marL="109728" marR="10972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Loan contract status chart: A, B, C, D counts and $ exposure</a:t>
                      </a:r>
                      <a:endParaRPr lang="en-US" sz="1200" dirty="0"/>
                    </a:p>
                  </a:txBody>
                  <a:tcPr marL="109728" marR="10972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Default rate by contract term and probability-of-default risk matrix</a:t>
                      </a:r>
                      <a:endParaRPr lang="en-US" sz="1200" dirty="0"/>
                    </a:p>
                  </a:txBody>
                  <a:tcPr marL="109728" marR="10972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b="1" dirty="0">
                          <a:solidFill>
                            <a:schemeClr val="tx2"/>
                          </a:solidFill>
                        </a:rPr>
                        <a:t>Underwriting policy</a:t>
                      </a:r>
                      <a:endParaRPr lang="en-US" sz="1200" dirty="0"/>
                    </a:p>
                  </a:txBody>
                  <a:tcPr marL="109728" marR="10972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13232">
                <a:tc>
                  <a:txBody>
                    <a:bodyPr/>
                    <a:lstStyle/>
                    <a:p>
                      <a:pPr marL="0" indent="0">
                        <a:buNone/>
                      </a:pPr>
                      <a:r>
                        <a:rPr lang="en-US" sz="1200" b="1" dirty="0">
                          <a:solidFill>
                            <a:schemeClr val="tx2"/>
                          </a:solidFill>
                        </a:rPr>
                        <a:t>RP2  RFM personas</a:t>
                      </a:r>
                      <a:endParaRPr lang="en-US" sz="1200" dirty="0"/>
                    </a:p>
                  </a:txBody>
                  <a:tcPr marL="109728" marR="10972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Demographic age matrix and baseline RFM distributions</a:t>
                      </a:r>
                      <a:endParaRPr lang="en-US" sz="1200" dirty="0"/>
                    </a:p>
                  </a:txBody>
                  <a:tcPr marL="109728" marR="10972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K-Means persona scatter: lifetime value, churn risk, upsell propensity</a:t>
                      </a:r>
                      <a:endParaRPr lang="en-US" sz="1200" dirty="0"/>
                    </a:p>
                  </a:txBody>
                  <a:tcPr marL="109728" marR="10972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b="1" dirty="0">
                          <a:solidFill>
                            <a:schemeClr val="tx2"/>
                          </a:solidFill>
                        </a:rPr>
                        <a:t>Targeted marketing</a:t>
                      </a:r>
                      <a:endParaRPr lang="en-US" sz="1200" dirty="0"/>
                    </a:p>
                  </a:txBody>
                  <a:tcPr marL="109728" marR="10972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713232">
                <a:tc>
                  <a:txBody>
                    <a:bodyPr/>
                    <a:lstStyle/>
                    <a:p>
                      <a:pPr marL="0" indent="0">
                        <a:buNone/>
                      </a:pPr>
                      <a:r>
                        <a:rPr lang="en-US" sz="1200" b="1" dirty="0">
                          <a:solidFill>
                            <a:schemeClr val="tx2"/>
                          </a:solidFill>
                        </a:rPr>
                        <a:t>RP3  Liquidity coverage</a:t>
                      </a:r>
                      <a:endParaRPr lang="en-US" sz="1200" dirty="0"/>
                    </a:p>
                  </a:txBody>
                  <a:tcPr marL="109728" marR="10972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Standing order outflow by category (SIPO, UVER, other)</a:t>
                      </a:r>
                      <a:endParaRPr lang="en-US" sz="1200" dirty="0"/>
                    </a:p>
                  </a:txBody>
                  <a:tcPr marL="109728" marR="10972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Loan payment vs standing orders scatter: cash-flow stress quadrant</a:t>
                      </a:r>
                      <a:endParaRPr lang="en-US" sz="1200" dirty="0"/>
                    </a:p>
                  </a:txBody>
                  <a:tcPr marL="109728" marR="10972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b="1" dirty="0">
                          <a:solidFill>
                            <a:schemeClr val="tx2"/>
                          </a:solidFill>
                        </a:rPr>
                        <a:t>Early-warning system</a:t>
                      </a:r>
                      <a:endParaRPr lang="en-US" sz="1200" dirty="0"/>
                    </a:p>
                  </a:txBody>
                  <a:tcPr marL="109728" marR="10972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13232">
                <a:tc>
                  <a:txBody>
                    <a:bodyPr/>
                    <a:lstStyle/>
                    <a:p>
                      <a:pPr marL="0" indent="0">
                        <a:buNone/>
                      </a:pPr>
                      <a:r>
                        <a:rPr lang="en-US" sz="1200" b="1" dirty="0">
                          <a:solidFill>
                            <a:schemeClr val="tx2"/>
                          </a:solidFill>
                        </a:rPr>
                        <a:t>RP4  Regional performance</a:t>
                      </a:r>
                      <a:endParaRPr lang="en-US" sz="1200" dirty="0"/>
                    </a:p>
                  </a:txBody>
                  <a:tcPr marL="109728" marR="10972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Regional account volume and loan exposure bars</a:t>
                      </a:r>
                      <a:endParaRPr lang="en-US" sz="1200" dirty="0"/>
                    </a:p>
                  </a:txBody>
                  <a:tcPr marL="109728" marR="10972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Default rate vs average salary scatter: district risk from macro factors</a:t>
                      </a:r>
                      <a:endParaRPr lang="en-US" sz="1200" dirty="0"/>
                    </a:p>
                  </a:txBody>
                  <a:tcPr marL="109728" marR="10972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b="1" dirty="0">
                          <a:solidFill>
                            <a:schemeClr val="tx2"/>
                          </a:solidFill>
                        </a:rPr>
                        <a:t>Regional LTV caps</a:t>
                      </a:r>
                      <a:endParaRPr lang="en-US" sz="1200" dirty="0"/>
                    </a:p>
                  </a:txBody>
                  <a:tcPr marL="109728" marR="10972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713232">
                <a:tc>
                  <a:txBody>
                    <a:bodyPr/>
                    <a:lstStyle/>
                    <a:p>
                      <a:pPr marL="0" indent="0">
                        <a:buNone/>
                      </a:pPr>
                      <a:r>
                        <a:rPr lang="en-US" sz="1200" b="1" dirty="0">
                          <a:solidFill>
                            <a:schemeClr val="tx2"/>
                          </a:solidFill>
                        </a:rPr>
                        <a:t>RP5  Payment card synergy</a:t>
                      </a:r>
                      <a:endParaRPr lang="en-US" sz="1200" dirty="0"/>
                    </a:p>
                  </a:txBody>
                  <a:tcPr marL="109728" marR="10972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Card tier mix and annual issuance trend, 1993 to 1998</a:t>
                      </a:r>
                      <a:endParaRPr lang="en-US" sz="1200" dirty="0"/>
                    </a:p>
                  </a:txBody>
                  <a:tcPr marL="109728" marR="10972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Cardholder vs non-cardholder default comparison (~4.3× lower by $)</a:t>
                      </a:r>
                      <a:endParaRPr lang="en-US" sz="1200" dirty="0"/>
                    </a:p>
                  </a:txBody>
                  <a:tcPr marL="109728" marR="10972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b="1" dirty="0">
                          <a:solidFill>
                            <a:schemeClr val="tx2"/>
                          </a:solidFill>
                        </a:rPr>
                        <a:t>Credit-risk proxy</a:t>
                      </a:r>
                      <a:endParaRPr lang="en-US" sz="1200" dirty="0"/>
                    </a:p>
                  </a:txBody>
                  <a:tcPr marL="109728" marR="10972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0972800" y="6355080"/>
            <a:ext cx="758952" cy="32004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320040"/>
            <a:ext cx="11274552" cy="292608"/>
          </a:xfrm>
          <a:prstGeom prst="rect">
            <a:avLst/>
          </a:prstGeom>
          <a:noFill/>
          <a:ln/>
        </p:spPr>
        <p:txBody>
          <a:bodyPr wrap="square" lIns="0" tIns="0" rIns="0" bIns="0" rtlCol="0" anchor="ctr"/>
          <a:lstStyle/>
          <a:p>
            <a:pPr marL="0" indent="0">
              <a:buNone/>
            </a:pPr>
            <a:r>
              <a:rPr lang="en-US" sz="1200" b="1" kern="0" spc="200" dirty="0">
                <a:solidFill>
                  <a:schemeClr val="accent3"/>
                </a:solidFill>
              </a:rPr>
              <a:t>STRATEGIC ROADMAP &amp; EXECUTIVE ACTION PLAN</a:t>
            </a:r>
            <a:endParaRPr lang="en-US" sz="1200" dirty="0"/>
          </a:p>
        </p:txBody>
      </p:sp>
      <p:sp>
        <p:nvSpPr>
          <p:cNvPr id="3" name="Text 1"/>
          <p:cNvSpPr>
            <a:spLocks noGrp="1"/>
          </p:cNvSpPr>
          <p:nvPr>
            <p:ph type="title" idx="102" hasCustomPrompt="1"/>
          </p:nvPr>
        </p:nvSpPr>
        <p:spPr>
          <a:xfrm>
            <a:off x="457200" y="640080"/>
            <a:ext cx="11274552" cy="685800"/>
          </a:xfrm>
          <a:prstGeom prst="rect">
            <a:avLst/>
          </a:prstGeom>
          <a:noFill/>
          <a:ln/>
        </p:spPr>
        <p:txBody>
          <a:bodyPr wrap="square" lIns="0" tIns="0" rIns="0" bIns="0" rtlCol="0" anchor="ctr"/>
          <a:lstStyle/>
          <a:p>
            <a:pPr marL="0" indent="0" algn="l">
              <a:buNone/>
            </a:pPr>
            <a:r>
              <a:rPr lang="en-US" sz="3000" b="1" dirty="0">
                <a:solidFill>
                  <a:schemeClr val="bg1"/>
                </a:solidFill>
              </a:rPr>
              <a:t>Three priorities for the coming fiscal year</a:t>
            </a:r>
            <a:endParaRPr lang="en-US" sz="3000" dirty="0"/>
          </a:p>
        </p:txBody>
      </p:sp>
      <p:sp>
        <p:nvSpPr>
          <p:cNvPr id="4" name="Card 1"/>
          <p:cNvSpPr/>
          <p:nvPr/>
        </p:nvSpPr>
        <p:spPr>
          <a:xfrm>
            <a:off x="457200" y="1508760"/>
            <a:ext cx="3611880" cy="3520440"/>
          </a:xfrm>
          <a:prstGeom prst="roundRect">
            <a:avLst>
              <a:gd name="adj" fmla="val 2597"/>
            </a:avLst>
          </a:prstGeom>
          <a:solidFill>
            <a:schemeClr val="bg1"/>
          </a:solidFill>
          <a:ln w="6350">
            <a:solidFill>
              <a:schemeClr val="bg1"/>
            </a:solidFill>
            <a:prstDash val="solid"/>
          </a:ln>
        </p:spPr>
        <p:txBody>
          <a:bodyPr/>
          <a:lstStyle/>
          <a:p>
            <a:endParaRPr lang="en-SG"/>
          </a:p>
        </p:txBody>
      </p:sp>
      <p:sp>
        <p:nvSpPr>
          <p:cNvPr id="5" name="Number badge 1"/>
          <p:cNvSpPr/>
          <p:nvPr/>
        </p:nvSpPr>
        <p:spPr>
          <a:xfrm>
            <a:off x="685800" y="1737360"/>
            <a:ext cx="457200" cy="457200"/>
          </a:xfrm>
          <a:prstGeom prst="ellipse">
            <a:avLst/>
          </a:prstGeom>
          <a:solidFill>
            <a:schemeClr val="accent1"/>
          </a:solidFill>
          <a:ln w="6350">
            <a:solidFill>
              <a:schemeClr val="accent1"/>
            </a:solidFill>
            <a:prstDash val="solid"/>
          </a:ln>
        </p:spPr>
        <p:txBody>
          <a:bodyPr/>
          <a:lstStyle/>
          <a:p>
            <a:endParaRPr lang="en-SG"/>
          </a:p>
        </p:txBody>
      </p:sp>
      <p:sp>
        <p:nvSpPr>
          <p:cNvPr id="6" name="Number 1"/>
          <p:cNvSpPr txBox="1"/>
          <p:nvPr/>
        </p:nvSpPr>
        <p:spPr>
          <a:xfrm>
            <a:off x="685800" y="173736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Card heading 1"/>
          <p:cNvSpPr txBox="1"/>
          <p:nvPr/>
        </p:nvSpPr>
        <p:spPr>
          <a:xfrm>
            <a:off x="1280160" y="1691640"/>
            <a:ext cx="2606040" cy="731520"/>
          </a:xfrm>
          <a:prstGeom prst="rect">
            <a:avLst/>
          </a:prstGeom>
          <a:noFill/>
          <a:ln/>
        </p:spPr>
        <p:txBody>
          <a:bodyPr wrap="square" lIns="0" tIns="0" rIns="0" bIns="0" rtlCol="0" anchor="ctr"/>
          <a:lstStyle/>
          <a:p>
            <a:pPr marL="0" indent="0" algn="l">
              <a:buNone/>
            </a:pPr>
            <a:r>
              <a:rPr lang="en-US" sz="1800" b="1" dirty="0">
                <a:solidFill>
                  <a:schemeClr val="tx2"/>
                </a:solidFill>
                <a:latin typeface="Cambria" pitchFamily="34" charset="0"/>
                <a:ea typeface="Cambria" pitchFamily="34" charset="-122"/>
                <a:cs typeface="Cambria" pitchFamily="34" charset="-120"/>
              </a:rPr>
              <a:t>Cross-sell payment cards as risk mitigants</a:t>
            </a:r>
            <a:endParaRPr lang="en-US" sz="1800" dirty="0"/>
          </a:p>
        </p:txBody>
      </p:sp>
      <p:sp>
        <p:nvSpPr>
          <p:cNvPr id="8" name="Card body 1"/>
          <p:cNvSpPr txBox="1"/>
          <p:nvPr/>
        </p:nvSpPr>
        <p:spPr>
          <a:xfrm>
            <a:off x="685800" y="2560320"/>
            <a:ext cx="3154680" cy="1371600"/>
          </a:xfrm>
          <a:prstGeom prst="rect">
            <a:avLst/>
          </a:prstGeom>
          <a:noFill/>
          <a:ln/>
        </p:spPr>
        <p:txBody>
          <a:bodyPr wrap="square" lIns="0" tIns="0" rIns="0" bIns="0" rtlCol="0" anchor="t"/>
          <a:lstStyle/>
          <a:p>
            <a:pPr marL="0" indent="0">
              <a:buNone/>
            </a:pPr>
            <a:r>
              <a:rPr lang="en-US" sz="1400" dirty="0">
                <a:solidFill>
                  <a:schemeClr val="tx1"/>
                </a:solidFill>
              </a:rPr>
              <a:t>Bundle a card with every new loan, issued within 30 days of account opening.</a:t>
            </a:r>
            <a:endParaRPr lang="en-US" sz="1400" dirty="0"/>
          </a:p>
        </p:txBody>
      </p:sp>
      <p:sp>
        <p:nvSpPr>
          <p:cNvPr id="9" name="Card stat 1"/>
          <p:cNvSpPr txBox="1"/>
          <p:nvPr/>
        </p:nvSpPr>
        <p:spPr>
          <a:xfrm>
            <a:off x="685800" y="4023360"/>
            <a:ext cx="3154680" cy="45720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4.35% vs 18.90%</a:t>
            </a:r>
            <a:endParaRPr lang="en-US" sz="2600" dirty="0"/>
          </a:p>
        </p:txBody>
      </p:sp>
      <p:sp>
        <p:nvSpPr>
          <p:cNvPr id="10" name="Card stat label 1"/>
          <p:cNvSpPr txBox="1"/>
          <p:nvPr/>
        </p:nvSpPr>
        <p:spPr>
          <a:xfrm>
            <a:off x="685800" y="4480560"/>
            <a:ext cx="3154680" cy="411480"/>
          </a:xfrm>
          <a:prstGeom prst="rect">
            <a:avLst/>
          </a:prstGeom>
          <a:noFill/>
          <a:ln/>
        </p:spPr>
        <p:txBody>
          <a:bodyPr wrap="square" lIns="0" tIns="0" rIns="0" bIns="0" rtlCol="0" anchor="t"/>
          <a:lstStyle/>
          <a:p>
            <a:pPr marL="0" indent="0">
              <a:buNone/>
            </a:pPr>
            <a:r>
              <a:rPr lang="en-US" sz="1200" dirty="0">
                <a:solidFill>
                  <a:schemeClr val="accent6"/>
                </a:solidFill>
              </a:rPr>
              <a:t>default by $: cardholders vs non-cardholders (~4.3×)</a:t>
            </a:r>
            <a:endParaRPr lang="en-US" sz="1200" dirty="0"/>
          </a:p>
        </p:txBody>
      </p:sp>
      <p:sp>
        <p:nvSpPr>
          <p:cNvPr id="11" name="Card 2"/>
          <p:cNvSpPr/>
          <p:nvPr/>
        </p:nvSpPr>
        <p:spPr>
          <a:xfrm>
            <a:off x="4297680" y="1508760"/>
            <a:ext cx="3611880" cy="3520440"/>
          </a:xfrm>
          <a:prstGeom prst="roundRect">
            <a:avLst>
              <a:gd name="adj" fmla="val 2597"/>
            </a:avLst>
          </a:prstGeom>
          <a:solidFill>
            <a:schemeClr val="bg1"/>
          </a:solidFill>
          <a:ln w="6350">
            <a:solidFill>
              <a:schemeClr val="bg1"/>
            </a:solidFill>
            <a:prstDash val="solid"/>
          </a:ln>
        </p:spPr>
        <p:txBody>
          <a:bodyPr/>
          <a:lstStyle/>
          <a:p>
            <a:endParaRPr lang="en-SG"/>
          </a:p>
        </p:txBody>
      </p:sp>
      <p:sp>
        <p:nvSpPr>
          <p:cNvPr id="12" name="Number badge 2"/>
          <p:cNvSpPr/>
          <p:nvPr/>
        </p:nvSpPr>
        <p:spPr>
          <a:xfrm>
            <a:off x="4526280" y="1737360"/>
            <a:ext cx="457200" cy="457200"/>
          </a:xfrm>
          <a:prstGeom prst="ellipse">
            <a:avLst/>
          </a:prstGeom>
          <a:solidFill>
            <a:schemeClr val="accent1"/>
          </a:solidFill>
          <a:ln w="6350">
            <a:solidFill>
              <a:schemeClr val="accent1"/>
            </a:solidFill>
            <a:prstDash val="solid"/>
          </a:ln>
        </p:spPr>
        <p:txBody>
          <a:bodyPr/>
          <a:lstStyle/>
          <a:p>
            <a:endParaRPr lang="en-SG"/>
          </a:p>
        </p:txBody>
      </p:sp>
      <p:sp>
        <p:nvSpPr>
          <p:cNvPr id="13" name="Number 2"/>
          <p:cNvSpPr txBox="1"/>
          <p:nvPr/>
        </p:nvSpPr>
        <p:spPr>
          <a:xfrm>
            <a:off x="4526280" y="173736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4" name="Card heading 2"/>
          <p:cNvSpPr txBox="1"/>
          <p:nvPr/>
        </p:nvSpPr>
        <p:spPr>
          <a:xfrm>
            <a:off x="5120640" y="1691640"/>
            <a:ext cx="2606040" cy="731520"/>
          </a:xfrm>
          <a:prstGeom prst="rect">
            <a:avLst/>
          </a:prstGeom>
          <a:noFill/>
          <a:ln/>
        </p:spPr>
        <p:txBody>
          <a:bodyPr wrap="square" lIns="0" tIns="0" rIns="0" bIns="0" rtlCol="0" anchor="ctr"/>
          <a:lstStyle/>
          <a:p>
            <a:pPr marL="0" indent="0" algn="l">
              <a:buNone/>
            </a:pPr>
            <a:r>
              <a:rPr lang="en-US" sz="1800" b="1" dirty="0">
                <a:solidFill>
                  <a:schemeClr val="tx2"/>
                </a:solidFill>
                <a:latin typeface="Cambria" pitchFamily="34" charset="0"/>
                <a:ea typeface="Cambria" pitchFamily="34" charset="-122"/>
                <a:cs typeface="Cambria" pitchFamily="34" charset="-120"/>
              </a:rPr>
              <a:t>Macro-adjusted regional credit limits</a:t>
            </a:r>
            <a:endParaRPr lang="en-US" sz="1800" dirty="0"/>
          </a:p>
        </p:txBody>
      </p:sp>
      <p:sp>
        <p:nvSpPr>
          <p:cNvPr id="15" name="Card body 2"/>
          <p:cNvSpPr txBox="1"/>
          <p:nvPr/>
        </p:nvSpPr>
        <p:spPr>
          <a:xfrm>
            <a:off x="4526280" y="2560320"/>
            <a:ext cx="3154680" cy="1371600"/>
          </a:xfrm>
          <a:prstGeom prst="rect">
            <a:avLst/>
          </a:prstGeom>
          <a:noFill/>
          <a:ln/>
        </p:spPr>
        <p:txBody>
          <a:bodyPr wrap="square" lIns="0" tIns="0" rIns="0" bIns="0" rtlCol="0" anchor="t"/>
          <a:lstStyle/>
          <a:p>
            <a:pPr marL="0" indent="0">
              <a:buNone/>
            </a:pPr>
            <a:r>
              <a:rPr lang="en-US" sz="1400" dirty="0">
                <a:solidFill>
                  <a:schemeClr val="tx1"/>
                </a:solidFill>
              </a:rPr>
              <a:t>Cap LTV at 70% in North Moravia, West Bohemia and South Bohemia; grow wealth and gold-card offers in Prague.</a:t>
            </a:r>
            <a:endParaRPr lang="en-US" sz="1400" dirty="0"/>
          </a:p>
        </p:txBody>
      </p:sp>
      <p:sp>
        <p:nvSpPr>
          <p:cNvPr id="16" name="Card stat 2"/>
          <p:cNvSpPr txBox="1"/>
          <p:nvPr/>
        </p:nvSpPr>
        <p:spPr>
          <a:xfrm>
            <a:off x="4526280" y="4023360"/>
            <a:ext cx="3154680" cy="45720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70% LTV cap</a:t>
            </a:r>
            <a:endParaRPr lang="en-US" sz="2600" dirty="0"/>
          </a:p>
        </p:txBody>
      </p:sp>
      <p:sp>
        <p:nvSpPr>
          <p:cNvPr id="17" name="Card stat label 2"/>
          <p:cNvSpPr txBox="1"/>
          <p:nvPr/>
        </p:nvSpPr>
        <p:spPr>
          <a:xfrm>
            <a:off x="4526280" y="4480560"/>
            <a:ext cx="3154680" cy="411480"/>
          </a:xfrm>
          <a:prstGeom prst="rect">
            <a:avLst/>
          </a:prstGeom>
          <a:noFill/>
          <a:ln/>
        </p:spPr>
        <p:txBody>
          <a:bodyPr wrap="square" lIns="0" tIns="0" rIns="0" bIns="0" rtlCol="0" anchor="t"/>
          <a:lstStyle/>
          <a:p>
            <a:pPr marL="0" indent="0">
              <a:buNone/>
            </a:pPr>
            <a:r>
              <a:rPr lang="en-US" sz="1200" dirty="0">
                <a:solidFill>
                  <a:schemeClr val="accent6"/>
                </a:solidFill>
              </a:rPr>
              <a:t>in the high-default regions</a:t>
            </a:r>
            <a:endParaRPr lang="en-US" sz="1200" dirty="0"/>
          </a:p>
        </p:txBody>
      </p:sp>
      <p:sp>
        <p:nvSpPr>
          <p:cNvPr id="18" name="Card 3"/>
          <p:cNvSpPr/>
          <p:nvPr/>
        </p:nvSpPr>
        <p:spPr>
          <a:xfrm>
            <a:off x="8138160" y="1508760"/>
            <a:ext cx="3611880" cy="3520440"/>
          </a:xfrm>
          <a:prstGeom prst="roundRect">
            <a:avLst>
              <a:gd name="adj" fmla="val 2597"/>
            </a:avLst>
          </a:prstGeom>
          <a:solidFill>
            <a:schemeClr val="bg1"/>
          </a:solidFill>
          <a:ln w="6350">
            <a:solidFill>
              <a:schemeClr val="bg1"/>
            </a:solidFill>
            <a:prstDash val="solid"/>
          </a:ln>
        </p:spPr>
        <p:txBody>
          <a:bodyPr/>
          <a:lstStyle/>
          <a:p>
            <a:endParaRPr lang="en-SG"/>
          </a:p>
        </p:txBody>
      </p:sp>
      <p:sp>
        <p:nvSpPr>
          <p:cNvPr id="19" name="Number badge 3"/>
          <p:cNvSpPr/>
          <p:nvPr/>
        </p:nvSpPr>
        <p:spPr>
          <a:xfrm>
            <a:off x="8366760" y="1737360"/>
            <a:ext cx="457200" cy="457200"/>
          </a:xfrm>
          <a:prstGeom prst="ellipse">
            <a:avLst/>
          </a:prstGeom>
          <a:solidFill>
            <a:schemeClr val="accent1"/>
          </a:solidFill>
          <a:ln w="6350">
            <a:solidFill>
              <a:schemeClr val="accent1"/>
            </a:solidFill>
            <a:prstDash val="solid"/>
          </a:ln>
        </p:spPr>
        <p:txBody>
          <a:bodyPr/>
          <a:lstStyle/>
          <a:p>
            <a:endParaRPr lang="en-SG"/>
          </a:p>
        </p:txBody>
      </p:sp>
      <p:sp>
        <p:nvSpPr>
          <p:cNvPr id="20" name="Number 3"/>
          <p:cNvSpPr txBox="1"/>
          <p:nvPr/>
        </p:nvSpPr>
        <p:spPr>
          <a:xfrm>
            <a:off x="8366760" y="173736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21" name="Card heading 3"/>
          <p:cNvSpPr txBox="1"/>
          <p:nvPr/>
        </p:nvSpPr>
        <p:spPr>
          <a:xfrm>
            <a:off x="8961120" y="1691640"/>
            <a:ext cx="2606040" cy="731520"/>
          </a:xfrm>
          <a:prstGeom prst="rect">
            <a:avLst/>
          </a:prstGeom>
          <a:noFill/>
          <a:ln/>
        </p:spPr>
        <p:txBody>
          <a:bodyPr wrap="square" lIns="0" tIns="0" rIns="0" bIns="0" rtlCol="0" anchor="ctr"/>
          <a:lstStyle/>
          <a:p>
            <a:pPr marL="0" indent="0" algn="l">
              <a:buNone/>
            </a:pPr>
            <a:r>
              <a:rPr lang="en-US" sz="1800" b="1" dirty="0">
                <a:solidFill>
                  <a:schemeClr val="tx2"/>
                </a:solidFill>
                <a:latin typeface="Cambria" pitchFamily="34" charset="0"/>
                <a:ea typeface="Cambria" pitchFamily="34" charset="-122"/>
                <a:cs typeface="Cambria" pitchFamily="34" charset="-120"/>
              </a:rPr>
              <a:t>Automated liquidity early-warning</a:t>
            </a:r>
            <a:endParaRPr lang="en-US" sz="1800" dirty="0"/>
          </a:p>
        </p:txBody>
      </p:sp>
      <p:sp>
        <p:nvSpPr>
          <p:cNvPr id="22" name="Card body 3"/>
          <p:cNvSpPr txBox="1"/>
          <p:nvPr/>
        </p:nvSpPr>
        <p:spPr>
          <a:xfrm>
            <a:off x="8366760" y="2560320"/>
            <a:ext cx="3154680" cy="1371600"/>
          </a:xfrm>
          <a:prstGeom prst="rect">
            <a:avLst/>
          </a:prstGeom>
          <a:noFill/>
          <a:ln/>
        </p:spPr>
        <p:txBody>
          <a:bodyPr wrap="square" lIns="0" tIns="0" rIns="0" bIns="0" rtlCol="0" anchor="t"/>
          <a:lstStyle/>
          <a:p>
            <a:pPr marL="0" indent="0">
              <a:buNone/>
            </a:pPr>
            <a:r>
              <a:rPr lang="en-US" sz="1400" dirty="0">
                <a:solidFill>
                  <a:schemeClr val="tx1"/>
                </a:solidFill>
              </a:rPr>
              <a:t>Alert daily when standing orders (SIPO + UVER) exceed 50% of monthly deposit inflows.</a:t>
            </a:r>
            <a:endParaRPr lang="en-US" sz="1400" dirty="0"/>
          </a:p>
        </p:txBody>
      </p:sp>
      <p:sp>
        <p:nvSpPr>
          <p:cNvPr id="23" name="Card stat 3"/>
          <p:cNvSpPr txBox="1"/>
          <p:nvPr/>
        </p:nvSpPr>
        <p:spPr>
          <a:xfrm>
            <a:off x="8366760" y="4023360"/>
            <a:ext cx="3154680" cy="45720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30 to 60 days</a:t>
            </a:r>
            <a:endParaRPr lang="en-US" sz="2600" dirty="0"/>
          </a:p>
        </p:txBody>
      </p:sp>
      <p:sp>
        <p:nvSpPr>
          <p:cNvPr id="24" name="Card stat label 3"/>
          <p:cNvSpPr txBox="1"/>
          <p:nvPr/>
        </p:nvSpPr>
        <p:spPr>
          <a:xfrm>
            <a:off x="8366760" y="4480560"/>
            <a:ext cx="3154680" cy="411480"/>
          </a:xfrm>
          <a:prstGeom prst="rect">
            <a:avLst/>
          </a:prstGeom>
          <a:noFill/>
          <a:ln/>
        </p:spPr>
        <p:txBody>
          <a:bodyPr wrap="square" lIns="0" tIns="0" rIns="0" bIns="0" rtlCol="0" anchor="t"/>
          <a:lstStyle/>
          <a:p>
            <a:pPr marL="0" indent="0">
              <a:buNone/>
            </a:pPr>
            <a:r>
              <a:rPr lang="en-US" sz="1200" dirty="0">
                <a:solidFill>
                  <a:schemeClr val="accent6"/>
                </a:solidFill>
              </a:rPr>
              <a:t>earlier intervention before formal default</a:t>
            </a:r>
            <a:endParaRPr lang="en-US" sz="1200" dirty="0"/>
          </a:p>
        </p:txBody>
      </p:sp>
      <p:sp>
        <p:nvSpPr>
          <p:cNvPr id="25" name="Power BI Q&amp;A launch button">
            <a:hlinkClick r:id="rId3" tooltip="Replace with your Power BI dashboard link (select shape, Ctrl+K)"/>
          </p:cNvPr>
          <p:cNvSpPr/>
          <p:nvPr/>
        </p:nvSpPr>
        <p:spPr>
          <a:xfrm>
            <a:off x="457200" y="5349240"/>
            <a:ext cx="4937760" cy="868680"/>
          </a:xfrm>
          <a:prstGeom prst="roundRect">
            <a:avLst>
              <a:gd name="adj" fmla="val 12632"/>
            </a:avLst>
          </a:prstGeom>
          <a:solidFill>
            <a:schemeClr val="accent3"/>
          </a:solidFill>
          <a:ln w="12700">
            <a:solidFill>
              <a:schemeClr val="accent3"/>
            </a:solidFill>
            <a:prstDash val="solid"/>
          </a:ln>
        </p:spPr>
        <p:txBody>
          <a:bodyPr/>
          <a:lstStyle/>
          <a:p>
            <a:endParaRPr lang="en-SG"/>
          </a:p>
        </p:txBody>
      </p:sp>
      <p:sp>
        <p:nvSpPr>
          <p:cNvPr id="26" name="Power BI Q&amp;A launch button label"/>
          <p:cNvSpPr txBox="1"/>
          <p:nvPr/>
        </p:nvSpPr>
        <p:spPr>
          <a:xfrm>
            <a:off x="457200" y="5349240"/>
            <a:ext cx="4937760" cy="868680"/>
          </a:xfrm>
          <a:prstGeom prst="rect">
            <a:avLst/>
          </a:prstGeom>
          <a:noFill/>
          <a:ln/>
        </p:spPr>
        <p:txBody>
          <a:bodyPr wrap="square" lIns="635" tIns="635" rIns="635" bIns="635" rtlCol="0" anchor="ctr"/>
          <a:lstStyle/>
          <a:p>
            <a:pPr marL="0" indent="0" algn="ctr">
              <a:buNone/>
            </a:pPr>
            <a:r>
              <a:rPr lang="en-US" sz="1500" b="1" dirty="0">
                <a:solidFill>
                  <a:schemeClr val="tx2"/>
                </a:solidFill>
              </a:rPr>
              <a:t>LAUNCH POWER BI DASHBOARD</a:t>
            </a:r>
            <a:endParaRPr lang="en-US" sz="1500" dirty="0"/>
          </a:p>
          <a:p>
            <a:pPr marL="0" indent="0" algn="ctr">
              <a:buNone/>
            </a:pPr>
            <a:r>
              <a:rPr lang="en-US" sz="1100" dirty="0">
                <a:solidFill>
                  <a:schemeClr val="tx2"/>
                </a:solidFill>
              </a:rPr>
              <a:t>[ insert Power BI link here: select button, Ctrl+K ]</a:t>
            </a:r>
            <a:endParaRPr lang="en-US" sz="1500" dirty="0"/>
          </a:p>
        </p:txBody>
      </p:sp>
      <p:sp>
        <p:nvSpPr>
          <p:cNvPr id="27" name="Closing line"/>
          <p:cNvSpPr txBox="1"/>
          <p:nvPr/>
        </p:nvSpPr>
        <p:spPr>
          <a:xfrm>
            <a:off x="5760720" y="5349240"/>
            <a:ext cx="5943600" cy="868680"/>
          </a:xfrm>
          <a:prstGeom prst="rect">
            <a:avLst/>
          </a:prstGeom>
          <a:noFill/>
          <a:ln/>
        </p:spPr>
        <p:txBody>
          <a:bodyPr wrap="square" lIns="0" tIns="0" rIns="0" bIns="0" rtlCol="0" anchor="ctr"/>
          <a:lstStyle/>
          <a:p>
            <a:pPr marL="0" indent="0">
              <a:buNone/>
            </a:pPr>
            <a:r>
              <a:rPr lang="en-US" sz="2800" b="1" dirty="0">
                <a:solidFill>
                  <a:schemeClr val="bg1"/>
                </a:solidFill>
                <a:latin typeface="Cambria" pitchFamily="34" charset="0"/>
                <a:ea typeface="Cambria" pitchFamily="34" charset="-122"/>
                <a:cs typeface="Cambria" pitchFamily="34" charset="-120"/>
              </a:rPr>
              <a:t>Thank you. Questions welcome.</a:t>
            </a:r>
            <a:endParaRPr lang="en-US" sz="2800" dirty="0"/>
          </a:p>
        </p:txBody>
      </p:sp>
    </p:spTree>
  </p:cSld>
  <p:clrMapOvr>
    <a:masterClrMapping/>
  </p:clrMapOvr>
</p:sld>
</file>

<file path=ppt/theme/theme1.xml><?xml version="1.0" encoding="utf-8"?>
<a:theme xmlns:a="http://schemas.openxmlformats.org/drawingml/2006/main" name="PKDD Financial">
  <a:themeElements>
    <a:clrScheme name="PKDD Financial">
      <a:dk1>
        <a:srgbClr val="1B1F27"/>
      </a:dk1>
      <a:lt1>
        <a:srgbClr val="FFFFFF"/>
      </a:lt1>
      <a:dk2>
        <a:srgbClr val="14245E"/>
      </a:dk2>
      <a:lt2>
        <a:srgbClr val="EEF2F8"/>
      </a:lt2>
      <a:accent1>
        <a:srgbClr val="1F5FAE"/>
      </a:accent1>
      <a:accent2>
        <a:srgbClr val="20A08E"/>
      </a:accent2>
      <a:accent3>
        <a:srgbClr val="E2A530"/>
      </a:accent3>
      <a:accent4>
        <a:srgbClr val="D32F2F"/>
      </a:accent4>
      <a:accent5>
        <a:srgbClr val="2E7D32"/>
      </a:accent5>
      <a:accent6>
        <a:srgbClr val="56657A"/>
      </a:accent6>
      <a:hlink>
        <a:srgbClr val="1F5FAE"/>
      </a:hlink>
      <a:folHlink>
        <a:srgbClr val="56657A"/>
      </a:folHlink>
    </a:clrScheme>
    <a:fontScheme name="PKDD Financi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2208</Words>
  <Application>Microsoft Office PowerPoint</Application>
  <PresentationFormat>Widescreen</PresentationFormat>
  <Paragraphs>136</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PKDD Financial</vt:lpstr>
      <vt:lpstr>PowerPoint Presentation</vt:lpstr>
      <vt:lpstr>$103.3M deployed across 4,500 accounts</vt:lpstr>
      <vt:lpstr>Default risk is not uniform across the portfolio</vt:lpstr>
      <vt:lpstr>VIP Champions carry the value; At-Risk is small</vt:lpstr>
      <vt:lpstr>Household payments dominate recurring outflows</vt:lpstr>
      <vt:lpstr>North Moravia carries the highest default rate</vt:lpstr>
      <vt:lpstr>Cardholders default about 4× less often</vt:lpstr>
      <vt:lpstr>From describing the past to predicting risk</vt:lpstr>
      <vt:lpstr>Three priorities for the coming fiscal year</vt:lpstr>
    </vt:vector>
  </TitlesOfParts>
  <Company>PKDD Financial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Banking Transactions &amp; Regulatory Insights</dc:title>
  <dc:subject>PptxGenJS Presentation</dc:subject>
  <dc:creator>PKDD Financial</dc:creator>
  <cp:lastModifiedBy>Daren Lee</cp:lastModifiedBy>
  <cp:revision>2</cp:revision>
  <dcterms:created xsi:type="dcterms:W3CDTF">2026-10-31T03:43:11Z</dcterms:created>
  <dcterms:modified xsi:type="dcterms:W3CDTF">2026-10-31T04:11:23Z</dcterms:modified>
</cp:coreProperties>
</file>